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This is our weekly update for the Water Turbidity Detection project. Last week, we completed the early research stage and worked on labeling fish images for the image-quality part of the project. This week, the turbidity sensor has arrived, and our team started wiring the sensor with the microcontroller to read water turbidity values. The main progress is that the project moved from research into real hardware testing. However, the sensor reading is still not stable yet, so we are currently debugging the circuit and analog reading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our team focused on preparation work. First, we worked on image labeling so that later we can compare fish image clarity under different water conditions. Second, we researched how turbidity sensors work. The basic idea is that the sensor outputs an analog voltage, and the microcontroller reads that value to estimate the water clarity. Third, we ordered the sensor and started preparing the wiring plan based on our GitHub project direction and the references we studied. This gave us the foundation to move into hardware integration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current hardware stage. The turbidity sensor has been connected to the microcontroller, and we started reading analog values through the ESP32 ADC pin. At the moment, the system can print values to the Serial Monitor, but the values are not reliable enough for final measurement. We think the issue may come from wiring, power supply, ADC pin selection, or calibration. Our immediate plan is to test the ADC pin separately, check the common ground, verify the signal pin, and then compare clean water with cloudy water samples. We are fixing the sensor layer first before moving to OLED display and cloud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includes a video proof of our hardware testing. In the video, we can see that the team has already started connecting the turbidity sensor and reading values from the system. The important point is that this is no longer only a theoretical project. We are already testing real hardware. However, the current measurement is not final yet because the analog readings are still unstable or not calibrated. This proves our current progress and also shows the technical issue we need to solve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next sprint, our priority is to fix the raw sensor reading first. We will check the ADC pin, power connection, ground connection, and signal wiring. After that, we will collect readings from clear water, slightly cloudy water, and turbid water to create our own thresholds. Once the sensor reading becomes stable, we will connect the OLED display and show the water status directly on the device. The final expected demo is simple but practical: the sensor measures water turbidity, the ESP32 classifies the water clarity, and the display tells the user whether fish image capture is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3"/>
        </a:solidFill>
      </p:bgPr>
    </p:bg>
    <p:spTree>
      <p:nvGrpSpPr>
        <p:cNvPr id="1" name=""/>
        <p:cNvGrpSpPr/>
        <p:nvPr/>
      </p:nvGrpSpPr>
      <p:grpSpPr>
        <a:xfrm>
          <a:off x="0" y="0"/>
          <a:ext cx="0" cy="0"/>
          <a:chOff x="0" y="0"/>
          <a:chExt cx="0" cy="0"/>
        </a:xfrm>
      </p:grpSpPr>
      <p:sp>
        <p:nvSpPr>
          <p:cNvPr id="2" name="Shape 0"/>
          <p:cNvSpPr/>
          <p:nvPr/>
        </p:nvSpPr>
        <p:spPr>
          <a:xfrm>
            <a:off x="0" y="0"/>
            <a:ext cx="6126480" cy="118872"/>
          </a:xfrm>
          <a:prstGeom prst="rect">
            <a:avLst/>
          </a:prstGeom>
          <a:solidFill>
            <a:srgbClr val="00A6B4"/>
          </a:solidFill>
          <a:ln w="12700">
            <a:solidFill>
              <a:srgbClr val="333333">
                <a:alpha val="0"/>
              </a:srgbClr>
            </a:solidFill>
            <a:prstDash val="solid"/>
          </a:ln>
        </p:spPr>
      </p:sp>
      <p:sp>
        <p:nvSpPr>
          <p:cNvPr id="3" name="Shape 1"/>
          <p:cNvSpPr/>
          <p:nvPr/>
        </p:nvSpPr>
        <p:spPr>
          <a:xfrm>
            <a:off x="10149840" y="384048"/>
            <a:ext cx="1325880" cy="347472"/>
          </a:xfrm>
          <a:prstGeom prst="roundRect">
            <a:avLst>
              <a:gd name="adj" fmla="val 21053"/>
            </a:avLst>
          </a:prstGeom>
          <a:solidFill>
            <a:srgbClr val="00A6B4"/>
          </a:solidFill>
          <a:ln w="12700">
            <a:solidFill>
              <a:srgbClr val="333333">
                <a:alpha val="0"/>
              </a:srgbClr>
            </a:solidFill>
            <a:prstDash val="solid"/>
          </a:ln>
        </p:spPr>
      </p:sp>
      <p:sp>
        <p:nvSpPr>
          <p:cNvPr id="4" name="Text 2"/>
          <p:cNvSpPr/>
          <p:nvPr/>
        </p:nvSpPr>
        <p:spPr>
          <a:xfrm>
            <a:off x="10149840" y="457200"/>
            <a:ext cx="1325880" cy="164592"/>
          </a:xfrm>
          <a:prstGeom prst="rect">
            <a:avLst/>
          </a:prstGeom>
          <a:noFill/>
          <a:ln/>
        </p:spPr>
        <p:txBody>
          <a:bodyPr wrap="square" lIns="0" tIns="0" rIns="0" bIns="0" rtlCol="0" anchor="ctr"/>
          <a:lstStyle/>
          <a:p>
            <a:pPr algn="ctr" indent="0" marL="0">
              <a:buNone/>
            </a:pPr>
            <a:r>
              <a:rPr lang="en-US" sz="1000" b="1" dirty="0">
                <a:solidFill>
                  <a:srgbClr val="FFFFFF"/>
                </a:solidFill>
              </a:rPr>
              <a:t>Weekly Update</a:t>
            </a:r>
            <a:endParaRPr lang="en-US" sz="1000" dirty="0"/>
          </a:p>
        </p:txBody>
      </p:sp>
      <p:pic>
        <p:nvPicPr>
          <p:cNvPr id="5" name="Image 0" descr="/mnt/data/crop_lab_tall_dark.jpg">    </p:cNvPr>
          <p:cNvPicPr>
            <a:picLocks noChangeAspect="1"/>
          </p:cNvPicPr>
          <p:nvPr/>
        </p:nvPicPr>
        <p:blipFill>
          <a:blip r:embed="rId1"/>
          <a:stretch>
            <a:fillRect/>
          </a:stretch>
        </p:blipFill>
        <p:spPr>
          <a:xfrm>
            <a:off x="6126480" y="0"/>
            <a:ext cx="6062472" cy="6858000"/>
          </a:xfrm>
          <a:prstGeom prst="rect">
            <a:avLst/>
          </a:prstGeom>
        </p:spPr>
      </p:pic>
      <p:sp>
        <p:nvSpPr>
          <p:cNvPr id="6" name="Text 3"/>
          <p:cNvSpPr/>
          <p:nvPr/>
        </p:nvSpPr>
        <p:spPr>
          <a:xfrm>
            <a:off x="594360" y="347472"/>
            <a:ext cx="5212080" cy="411480"/>
          </a:xfrm>
          <a:prstGeom prst="rect">
            <a:avLst/>
          </a:prstGeom>
          <a:noFill/>
          <a:ln/>
        </p:spPr>
        <p:txBody>
          <a:bodyPr wrap="square" lIns="0" tIns="0" rIns="0" bIns="0" rtlCol="0" anchor="ctr"/>
          <a:lstStyle/>
          <a:p>
            <a:pPr indent="0" marL="0">
              <a:buNone/>
            </a:pPr>
            <a:r>
              <a:rPr lang="en-US" sz="2600" b="1" dirty="0">
                <a:solidFill>
                  <a:srgbClr val="FFFFFF"/>
                </a:solidFill>
                <a:latin typeface="Aptos Display" pitchFamily="34" charset="0"/>
                <a:ea typeface="Aptos Display" pitchFamily="34" charset="-122"/>
                <a:cs typeface="Aptos Display" pitchFamily="34" charset="-120"/>
              </a:rPr>
              <a:t>Water Turbidity Detection</a:t>
            </a:r>
            <a:endParaRPr lang="en-US" sz="2600" dirty="0"/>
          </a:p>
        </p:txBody>
      </p:sp>
      <p:sp>
        <p:nvSpPr>
          <p:cNvPr id="7" name="Text 4"/>
          <p:cNvSpPr/>
          <p:nvPr/>
        </p:nvSpPr>
        <p:spPr>
          <a:xfrm>
            <a:off x="603504" y="804672"/>
            <a:ext cx="5212080" cy="256032"/>
          </a:xfrm>
          <a:prstGeom prst="rect">
            <a:avLst/>
          </a:prstGeom>
          <a:noFill/>
          <a:ln/>
        </p:spPr>
        <p:txBody>
          <a:bodyPr wrap="square" lIns="0" tIns="0" rIns="0" bIns="0" rtlCol="0" anchor="ctr"/>
          <a:lstStyle/>
          <a:p>
            <a:pPr indent="0" marL="0">
              <a:buNone/>
            </a:pPr>
            <a:r>
              <a:rPr lang="en-US" sz="1150" dirty="0">
                <a:solidFill>
                  <a:srgbClr val="5EE1F0"/>
                </a:solidFill>
              </a:rPr>
              <a:t>Hardware integration progress update</a:t>
            </a:r>
            <a:endParaRPr lang="en-US" sz="1150" dirty="0"/>
          </a:p>
        </p:txBody>
      </p:sp>
      <p:sp>
        <p:nvSpPr>
          <p:cNvPr id="8" name="Shape 5"/>
          <p:cNvSpPr/>
          <p:nvPr/>
        </p:nvSpPr>
        <p:spPr>
          <a:xfrm>
            <a:off x="640080" y="1600200"/>
            <a:ext cx="4800600" cy="960120"/>
          </a:xfrm>
          <a:prstGeom prst="roundRect">
            <a:avLst>
              <a:gd name="adj" fmla="val 11429"/>
            </a:avLst>
          </a:prstGeom>
          <a:solidFill>
            <a:srgbClr val="12324D"/>
          </a:solidFill>
          <a:ln w="12700">
            <a:solidFill>
              <a:srgbClr val="333333">
                <a:alpha val="0"/>
              </a:srgbClr>
            </a:solidFill>
            <a:prstDash val="solid"/>
          </a:ln>
        </p:spPr>
      </p:sp>
      <p:sp>
        <p:nvSpPr>
          <p:cNvPr id="9" name="Text 6"/>
          <p:cNvSpPr/>
          <p:nvPr/>
        </p:nvSpPr>
        <p:spPr>
          <a:xfrm>
            <a:off x="868680" y="1828800"/>
            <a:ext cx="4343400" cy="329184"/>
          </a:xfrm>
          <a:prstGeom prst="rect">
            <a:avLst/>
          </a:prstGeom>
          <a:noFill/>
          <a:ln/>
        </p:spPr>
        <p:txBody>
          <a:bodyPr wrap="square" lIns="508" tIns="508" rIns="508" bIns="508" rtlCol="0" anchor="t">
            <a:normAutofit/>
          </a:bodyPr>
          <a:lstStyle/>
          <a:p>
            <a:pPr algn="l" indent="0" marL="0">
              <a:buNone/>
            </a:pPr>
            <a:r>
              <a:rPr lang="en-US" sz="2000" b="1" dirty="0">
                <a:solidFill>
                  <a:srgbClr val="FFFFFF"/>
                </a:solidFill>
                <a:latin typeface="Aptos" pitchFamily="34" charset="0"/>
                <a:ea typeface="Aptos" pitchFamily="34" charset="-122"/>
                <a:cs typeface="Aptos" pitchFamily="34" charset="-120"/>
              </a:rPr>
              <a:t>Sensor arrived. Wiring started. Measurement is not stable yet.</a:t>
            </a:r>
            <a:endParaRPr lang="en-US" sz="2000" dirty="0"/>
          </a:p>
        </p:txBody>
      </p:sp>
      <p:sp>
        <p:nvSpPr>
          <p:cNvPr id="10" name="Shape 7"/>
          <p:cNvSpPr/>
          <p:nvPr/>
        </p:nvSpPr>
        <p:spPr>
          <a:xfrm>
            <a:off x="777240" y="3246120"/>
            <a:ext cx="384048" cy="384048"/>
          </a:xfrm>
          <a:prstGeom prst="ellipse">
            <a:avLst/>
          </a:prstGeom>
          <a:solidFill>
            <a:srgbClr val="27AE60"/>
          </a:solidFill>
          <a:ln w="12700">
            <a:solidFill>
              <a:srgbClr val="333333">
                <a:alpha val="0"/>
              </a:srgbClr>
            </a:solidFill>
            <a:prstDash val="solid"/>
          </a:ln>
        </p:spPr>
      </p:sp>
      <p:sp>
        <p:nvSpPr>
          <p:cNvPr id="11" name="Shape 8"/>
          <p:cNvSpPr/>
          <p:nvPr/>
        </p:nvSpPr>
        <p:spPr>
          <a:xfrm>
            <a:off x="1161288" y="3438144"/>
            <a:ext cx="786384" cy="0"/>
          </a:xfrm>
          <a:prstGeom prst="line">
            <a:avLst/>
          </a:prstGeom>
          <a:noFill/>
          <a:ln w="25400">
            <a:solidFill>
              <a:srgbClr val="5EE1F0"/>
            </a:solidFill>
            <a:prstDash val="solid"/>
          </a:ln>
        </p:spPr>
      </p:sp>
      <p:sp>
        <p:nvSpPr>
          <p:cNvPr id="12" name="Text 9"/>
          <p:cNvSpPr/>
          <p:nvPr/>
        </p:nvSpPr>
        <p:spPr>
          <a:xfrm>
            <a:off x="630936" y="3730752"/>
            <a:ext cx="685800" cy="137160"/>
          </a:xfrm>
          <a:prstGeom prst="rect">
            <a:avLst/>
          </a:prstGeom>
          <a:noFill/>
          <a:ln/>
        </p:spPr>
        <p:txBody>
          <a:bodyPr wrap="square" lIns="508" tIns="508" rIns="508" bIns="508" rtlCol="0" anchor="t">
            <a:normAutofit/>
          </a:bodyPr>
          <a:lstStyle/>
          <a:p>
            <a:pPr algn="ctr" indent="0" marL="0">
              <a:buNone/>
            </a:pPr>
            <a:r>
              <a:rPr lang="en-US" sz="900" b="1" dirty="0">
                <a:solidFill>
                  <a:srgbClr val="5EE1F0"/>
                </a:solidFill>
                <a:latin typeface="Aptos" pitchFamily="34" charset="0"/>
                <a:ea typeface="Aptos" pitchFamily="34" charset="-122"/>
                <a:cs typeface="Aptos" pitchFamily="34" charset="-120"/>
              </a:rPr>
              <a:t>Done</a:t>
            </a:r>
            <a:endParaRPr lang="en-US" sz="900" dirty="0"/>
          </a:p>
        </p:txBody>
      </p:sp>
      <p:sp>
        <p:nvSpPr>
          <p:cNvPr id="13" name="Text 10"/>
          <p:cNvSpPr/>
          <p:nvPr/>
        </p:nvSpPr>
        <p:spPr>
          <a:xfrm>
            <a:off x="484632" y="3941064"/>
            <a:ext cx="987552" cy="347472"/>
          </a:xfrm>
          <a:prstGeom prst="rect">
            <a:avLst/>
          </a:prstGeom>
          <a:noFill/>
          <a:ln/>
        </p:spPr>
        <p:txBody>
          <a:bodyPr wrap="square" lIns="508" tIns="508" rIns="508" bIns="508" rtlCol="0" anchor="t">
            <a:normAutofit/>
          </a:bodyPr>
          <a:lstStyle/>
          <a:p>
            <a:pPr algn="ctr" indent="0" marL="0">
              <a:buNone/>
            </a:pPr>
            <a:r>
              <a:rPr lang="en-US" sz="1050" dirty="0">
                <a:solidFill>
                  <a:srgbClr val="FFFFFF"/>
                </a:solidFill>
                <a:latin typeface="Aptos" pitchFamily="34" charset="0"/>
                <a:ea typeface="Aptos" pitchFamily="34" charset="-122"/>
                <a:cs typeface="Aptos" pitchFamily="34" charset="-120"/>
              </a:rPr>
              <a:t>Image labeling</a:t>
            </a:r>
            <a:endParaRPr lang="en-US" sz="1050" dirty="0"/>
          </a:p>
        </p:txBody>
      </p:sp>
      <p:sp>
        <p:nvSpPr>
          <p:cNvPr id="14" name="Shape 11"/>
          <p:cNvSpPr/>
          <p:nvPr/>
        </p:nvSpPr>
        <p:spPr>
          <a:xfrm>
            <a:off x="1947672" y="3246120"/>
            <a:ext cx="384048" cy="384048"/>
          </a:xfrm>
          <a:prstGeom prst="ellipse">
            <a:avLst/>
          </a:prstGeom>
          <a:solidFill>
            <a:srgbClr val="27AE60"/>
          </a:solidFill>
          <a:ln w="12700">
            <a:solidFill>
              <a:srgbClr val="333333">
                <a:alpha val="0"/>
              </a:srgbClr>
            </a:solidFill>
            <a:prstDash val="solid"/>
          </a:ln>
        </p:spPr>
      </p:sp>
      <p:sp>
        <p:nvSpPr>
          <p:cNvPr id="15" name="Shape 12"/>
          <p:cNvSpPr/>
          <p:nvPr/>
        </p:nvSpPr>
        <p:spPr>
          <a:xfrm>
            <a:off x="2331720" y="3438144"/>
            <a:ext cx="786384" cy="0"/>
          </a:xfrm>
          <a:prstGeom prst="line">
            <a:avLst/>
          </a:prstGeom>
          <a:noFill/>
          <a:ln w="25400">
            <a:solidFill>
              <a:srgbClr val="5EE1F0"/>
            </a:solidFill>
            <a:prstDash val="solid"/>
          </a:ln>
        </p:spPr>
      </p:sp>
      <p:sp>
        <p:nvSpPr>
          <p:cNvPr id="16" name="Text 13"/>
          <p:cNvSpPr/>
          <p:nvPr/>
        </p:nvSpPr>
        <p:spPr>
          <a:xfrm>
            <a:off x="1801368" y="3730752"/>
            <a:ext cx="685800" cy="137160"/>
          </a:xfrm>
          <a:prstGeom prst="rect">
            <a:avLst/>
          </a:prstGeom>
          <a:noFill/>
          <a:ln/>
        </p:spPr>
        <p:txBody>
          <a:bodyPr wrap="square" lIns="508" tIns="508" rIns="508" bIns="508" rtlCol="0" anchor="t">
            <a:normAutofit/>
          </a:bodyPr>
          <a:lstStyle/>
          <a:p>
            <a:pPr algn="ctr" indent="0" marL="0">
              <a:buNone/>
            </a:pPr>
            <a:r>
              <a:rPr lang="en-US" sz="900" b="1" dirty="0">
                <a:solidFill>
                  <a:srgbClr val="5EE1F0"/>
                </a:solidFill>
                <a:latin typeface="Aptos" pitchFamily="34" charset="0"/>
                <a:ea typeface="Aptos" pitchFamily="34" charset="-122"/>
                <a:cs typeface="Aptos" pitchFamily="34" charset="-120"/>
              </a:rPr>
              <a:t>Done</a:t>
            </a:r>
            <a:endParaRPr lang="en-US" sz="900" dirty="0"/>
          </a:p>
        </p:txBody>
      </p:sp>
      <p:sp>
        <p:nvSpPr>
          <p:cNvPr id="17" name="Text 14"/>
          <p:cNvSpPr/>
          <p:nvPr/>
        </p:nvSpPr>
        <p:spPr>
          <a:xfrm>
            <a:off x="1655064" y="3941064"/>
            <a:ext cx="987552" cy="347472"/>
          </a:xfrm>
          <a:prstGeom prst="rect">
            <a:avLst/>
          </a:prstGeom>
          <a:noFill/>
          <a:ln/>
        </p:spPr>
        <p:txBody>
          <a:bodyPr wrap="square" lIns="508" tIns="508" rIns="508" bIns="508" rtlCol="0" anchor="t">
            <a:normAutofit/>
          </a:bodyPr>
          <a:lstStyle/>
          <a:p>
            <a:pPr algn="ctr" indent="0" marL="0">
              <a:buNone/>
            </a:pPr>
            <a:r>
              <a:rPr lang="en-US" sz="1050" dirty="0">
                <a:solidFill>
                  <a:srgbClr val="FFFFFF"/>
                </a:solidFill>
                <a:latin typeface="Aptos" pitchFamily="34" charset="0"/>
                <a:ea typeface="Aptos" pitchFamily="34" charset="-122"/>
                <a:cs typeface="Aptos" pitchFamily="34" charset="-120"/>
              </a:rPr>
              <a:t>Research</a:t>
            </a:r>
            <a:endParaRPr lang="en-US" sz="1050" dirty="0"/>
          </a:p>
        </p:txBody>
      </p:sp>
      <p:sp>
        <p:nvSpPr>
          <p:cNvPr id="18" name="Shape 15"/>
          <p:cNvSpPr/>
          <p:nvPr/>
        </p:nvSpPr>
        <p:spPr>
          <a:xfrm>
            <a:off x="3118104" y="3246120"/>
            <a:ext cx="384048" cy="384048"/>
          </a:xfrm>
          <a:prstGeom prst="ellipse">
            <a:avLst/>
          </a:prstGeom>
          <a:solidFill>
            <a:srgbClr val="F4A261"/>
          </a:solidFill>
          <a:ln w="12700">
            <a:solidFill>
              <a:srgbClr val="333333">
                <a:alpha val="0"/>
              </a:srgbClr>
            </a:solidFill>
            <a:prstDash val="solid"/>
          </a:ln>
        </p:spPr>
      </p:sp>
      <p:sp>
        <p:nvSpPr>
          <p:cNvPr id="19" name="Shape 16"/>
          <p:cNvSpPr/>
          <p:nvPr/>
        </p:nvSpPr>
        <p:spPr>
          <a:xfrm>
            <a:off x="3502152" y="3438144"/>
            <a:ext cx="786384" cy="0"/>
          </a:xfrm>
          <a:prstGeom prst="line">
            <a:avLst/>
          </a:prstGeom>
          <a:noFill/>
          <a:ln w="25400">
            <a:solidFill>
              <a:srgbClr val="5EE1F0"/>
            </a:solidFill>
            <a:prstDash val="solid"/>
          </a:ln>
        </p:spPr>
      </p:sp>
      <p:sp>
        <p:nvSpPr>
          <p:cNvPr id="20" name="Text 17"/>
          <p:cNvSpPr/>
          <p:nvPr/>
        </p:nvSpPr>
        <p:spPr>
          <a:xfrm>
            <a:off x="2971800" y="3730752"/>
            <a:ext cx="685800" cy="137160"/>
          </a:xfrm>
          <a:prstGeom prst="rect">
            <a:avLst/>
          </a:prstGeom>
          <a:noFill/>
          <a:ln/>
        </p:spPr>
        <p:txBody>
          <a:bodyPr wrap="square" lIns="508" tIns="508" rIns="508" bIns="508" rtlCol="0" anchor="t">
            <a:normAutofit/>
          </a:bodyPr>
          <a:lstStyle/>
          <a:p>
            <a:pPr algn="ctr" indent="0" marL="0">
              <a:buNone/>
            </a:pPr>
            <a:r>
              <a:rPr lang="en-US" sz="900" b="1" dirty="0">
                <a:solidFill>
                  <a:srgbClr val="5EE1F0"/>
                </a:solidFill>
                <a:latin typeface="Aptos" pitchFamily="34" charset="0"/>
                <a:ea typeface="Aptos" pitchFamily="34" charset="-122"/>
                <a:cs typeface="Aptos" pitchFamily="34" charset="-120"/>
              </a:rPr>
              <a:t>Now</a:t>
            </a:r>
            <a:endParaRPr lang="en-US" sz="900" dirty="0"/>
          </a:p>
        </p:txBody>
      </p:sp>
      <p:sp>
        <p:nvSpPr>
          <p:cNvPr id="21" name="Text 18"/>
          <p:cNvSpPr/>
          <p:nvPr/>
        </p:nvSpPr>
        <p:spPr>
          <a:xfrm>
            <a:off x="2825496" y="3941064"/>
            <a:ext cx="987552" cy="347472"/>
          </a:xfrm>
          <a:prstGeom prst="rect">
            <a:avLst/>
          </a:prstGeom>
          <a:noFill/>
          <a:ln/>
        </p:spPr>
        <p:txBody>
          <a:bodyPr wrap="square" lIns="508" tIns="508" rIns="508" bIns="508" rtlCol="0" anchor="t">
            <a:normAutofit/>
          </a:bodyPr>
          <a:lstStyle/>
          <a:p>
            <a:pPr algn="ctr" indent="0" marL="0">
              <a:buNone/>
            </a:pPr>
            <a:r>
              <a:rPr lang="en-US" sz="1050" dirty="0">
                <a:solidFill>
                  <a:srgbClr val="FFFFFF"/>
                </a:solidFill>
                <a:latin typeface="Aptos" pitchFamily="34" charset="0"/>
                <a:ea typeface="Aptos" pitchFamily="34" charset="-122"/>
                <a:cs typeface="Aptos" pitchFamily="34" charset="-120"/>
              </a:rPr>
              <a:t>Sensor wiring</a:t>
            </a:r>
            <a:endParaRPr lang="en-US" sz="1050" dirty="0"/>
          </a:p>
        </p:txBody>
      </p:sp>
      <p:sp>
        <p:nvSpPr>
          <p:cNvPr id="22" name="Shape 19"/>
          <p:cNvSpPr/>
          <p:nvPr/>
        </p:nvSpPr>
        <p:spPr>
          <a:xfrm>
            <a:off x="4288536" y="3246120"/>
            <a:ext cx="384048" cy="384048"/>
          </a:xfrm>
          <a:prstGeom prst="ellipse">
            <a:avLst/>
          </a:prstGeom>
          <a:solidFill>
            <a:srgbClr val="E74C3C"/>
          </a:solidFill>
          <a:ln w="12700">
            <a:solidFill>
              <a:srgbClr val="333333">
                <a:alpha val="0"/>
              </a:srgbClr>
            </a:solidFill>
            <a:prstDash val="solid"/>
          </a:ln>
        </p:spPr>
      </p:sp>
      <p:sp>
        <p:nvSpPr>
          <p:cNvPr id="23" name="Text 20"/>
          <p:cNvSpPr/>
          <p:nvPr/>
        </p:nvSpPr>
        <p:spPr>
          <a:xfrm>
            <a:off x="4142232" y="3730752"/>
            <a:ext cx="685800" cy="137160"/>
          </a:xfrm>
          <a:prstGeom prst="rect">
            <a:avLst/>
          </a:prstGeom>
          <a:noFill/>
          <a:ln/>
        </p:spPr>
        <p:txBody>
          <a:bodyPr wrap="square" lIns="508" tIns="508" rIns="508" bIns="508" rtlCol="0" anchor="t">
            <a:normAutofit/>
          </a:bodyPr>
          <a:lstStyle/>
          <a:p>
            <a:pPr algn="ctr" indent="0" marL="0">
              <a:buNone/>
            </a:pPr>
            <a:r>
              <a:rPr lang="en-US" sz="900" b="1" dirty="0">
                <a:solidFill>
                  <a:srgbClr val="5EE1F0"/>
                </a:solidFill>
                <a:latin typeface="Aptos" pitchFamily="34" charset="0"/>
                <a:ea typeface="Aptos" pitchFamily="34" charset="-122"/>
                <a:cs typeface="Aptos" pitchFamily="34" charset="-120"/>
              </a:rPr>
              <a:t>Fixing</a:t>
            </a:r>
            <a:endParaRPr lang="en-US" sz="900" dirty="0"/>
          </a:p>
        </p:txBody>
      </p:sp>
      <p:sp>
        <p:nvSpPr>
          <p:cNvPr id="24" name="Text 21"/>
          <p:cNvSpPr/>
          <p:nvPr/>
        </p:nvSpPr>
        <p:spPr>
          <a:xfrm>
            <a:off x="3995928" y="3941064"/>
            <a:ext cx="987552" cy="347472"/>
          </a:xfrm>
          <a:prstGeom prst="rect">
            <a:avLst/>
          </a:prstGeom>
          <a:noFill/>
          <a:ln/>
        </p:spPr>
        <p:txBody>
          <a:bodyPr wrap="square" lIns="508" tIns="508" rIns="508" bIns="508" rtlCol="0" anchor="t">
            <a:normAutofit/>
          </a:bodyPr>
          <a:lstStyle/>
          <a:p>
            <a:pPr algn="ctr" indent="0" marL="0">
              <a:buNone/>
            </a:pPr>
            <a:r>
              <a:rPr lang="en-US" sz="1050" dirty="0">
                <a:solidFill>
                  <a:srgbClr val="FFFFFF"/>
                </a:solidFill>
                <a:latin typeface="Aptos" pitchFamily="34" charset="0"/>
                <a:ea typeface="Aptos" pitchFamily="34" charset="-122"/>
                <a:cs typeface="Aptos" pitchFamily="34" charset="-120"/>
              </a:rPr>
              <a:t>Analog read error</a:t>
            </a:r>
            <a:endParaRPr lang="en-US" sz="1050" dirty="0"/>
          </a:p>
        </p:txBody>
      </p:sp>
      <p:sp>
        <p:nvSpPr>
          <p:cNvPr id="25" name="Text 22"/>
          <p:cNvSpPr/>
          <p:nvPr/>
        </p:nvSpPr>
        <p:spPr>
          <a:xfrm>
            <a:off x="658368" y="5897880"/>
            <a:ext cx="1554480" cy="219456"/>
          </a:xfrm>
          <a:prstGeom prst="rect">
            <a:avLst/>
          </a:prstGeom>
          <a:noFill/>
          <a:ln/>
        </p:spPr>
        <p:txBody>
          <a:bodyPr wrap="square" lIns="508" tIns="508" rIns="508" bIns="508" rtlCol="0" anchor="t">
            <a:normAutofit/>
          </a:bodyPr>
          <a:lstStyle/>
          <a:p>
            <a:pPr algn="l" indent="0" marL="0">
              <a:buNone/>
            </a:pPr>
            <a:r>
              <a:rPr lang="en-US" sz="1050" b="1" dirty="0">
                <a:solidFill>
                  <a:srgbClr val="5EE1F0"/>
                </a:solidFill>
                <a:latin typeface="Aptos" pitchFamily="34" charset="0"/>
                <a:ea typeface="Aptos" pitchFamily="34" charset="-122"/>
                <a:cs typeface="Aptos" pitchFamily="34" charset="-120"/>
              </a:rPr>
              <a:t>Team members</a:t>
            </a:r>
            <a:endParaRPr lang="en-US" sz="1050" dirty="0"/>
          </a:p>
        </p:txBody>
      </p:sp>
      <p:sp>
        <p:nvSpPr>
          <p:cNvPr id="26" name="Text 23"/>
          <p:cNvSpPr/>
          <p:nvPr/>
        </p:nvSpPr>
        <p:spPr>
          <a:xfrm>
            <a:off x="658368" y="6153912"/>
            <a:ext cx="5257800" cy="210312"/>
          </a:xfrm>
          <a:prstGeom prst="rect">
            <a:avLst/>
          </a:prstGeom>
          <a:noFill/>
          <a:ln/>
        </p:spPr>
        <p:txBody>
          <a:bodyPr wrap="square" lIns="508" tIns="508" rIns="508" bIns="508" rtlCol="0" anchor="t">
            <a:normAutofit/>
          </a:bodyPr>
          <a:lstStyle/>
          <a:p>
            <a:pPr algn="l" indent="0" marL="0">
              <a:buNone/>
            </a:pPr>
            <a:r>
              <a:rPr lang="en-US" sz="920" dirty="0">
                <a:solidFill>
                  <a:srgbClr val="FFFFFF"/>
                </a:solidFill>
                <a:latin typeface="Aptos" pitchFamily="34" charset="0"/>
                <a:ea typeface="Aptos" pitchFamily="34" charset="-122"/>
                <a:cs typeface="Aptos" pitchFamily="34" charset="-120"/>
              </a:rPr>
              <a:t>104240336 Võ Văn Nhật Quốc · 104240141 Nguyễn Văn Tấn Tài · 104240400 Hồ Vũ Minh Đăng</a:t>
            </a:r>
            <a:endParaRPr lang="en-US" sz="920" dirty="0"/>
          </a:p>
        </p:txBody>
      </p:sp>
      <p:sp>
        <p:nvSpPr>
          <p:cNvPr id="27" name="Text 24"/>
          <p:cNvSpPr/>
          <p:nvPr/>
        </p:nvSpPr>
        <p:spPr>
          <a:xfrm>
            <a:off x="11109960" y="6446520"/>
            <a:ext cx="502920" cy="164592"/>
          </a:xfrm>
          <a:prstGeom prst="rect">
            <a:avLst/>
          </a:prstGeom>
          <a:noFill/>
          <a:ln/>
        </p:spPr>
        <p:txBody>
          <a:bodyPr wrap="square" lIns="0" tIns="0" rIns="0" bIns="0" rtlCol="0" anchor="ctr"/>
          <a:lstStyle/>
          <a:p>
            <a:pPr algn="r" indent="0" marL="0">
              <a:buNone/>
            </a:pPr>
            <a:r>
              <a:rPr lang="en-US" sz="900" b="1" dirty="0">
                <a:solidFill>
                  <a:srgbClr val="5EE1F0"/>
                </a:solidFill>
              </a:rPr>
              <a:t>1/5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7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D75D8"/>
          </a:solidFill>
          <a:ln w="12700">
            <a:solidFill>
              <a:srgbClr val="333333">
                <a:alpha val="0"/>
              </a:srgbClr>
            </a:solidFill>
            <a:prstDash val="solid"/>
          </a:ln>
        </p:spPr>
      </p:sp>
      <p:sp>
        <p:nvSpPr>
          <p:cNvPr id="3" name="Shape 1"/>
          <p:cNvSpPr/>
          <p:nvPr/>
        </p:nvSpPr>
        <p:spPr>
          <a:xfrm>
            <a:off x="10149840" y="384048"/>
            <a:ext cx="1325880" cy="347472"/>
          </a:xfrm>
          <a:prstGeom prst="roundRect">
            <a:avLst>
              <a:gd name="adj" fmla="val 21053"/>
            </a:avLst>
          </a:prstGeom>
          <a:solidFill>
            <a:srgbClr val="1D75D8"/>
          </a:solidFill>
          <a:ln w="12700">
            <a:solidFill>
              <a:srgbClr val="333333">
                <a:alpha val="0"/>
              </a:srgbClr>
            </a:solidFill>
            <a:prstDash val="solid"/>
          </a:ln>
        </p:spPr>
      </p:sp>
      <p:sp>
        <p:nvSpPr>
          <p:cNvPr id="4" name="Text 2"/>
          <p:cNvSpPr/>
          <p:nvPr/>
        </p:nvSpPr>
        <p:spPr>
          <a:xfrm>
            <a:off x="10149840" y="457200"/>
            <a:ext cx="1325880" cy="164592"/>
          </a:xfrm>
          <a:prstGeom prst="rect">
            <a:avLst/>
          </a:prstGeom>
          <a:noFill/>
          <a:ln/>
        </p:spPr>
        <p:txBody>
          <a:bodyPr wrap="square" lIns="0" tIns="0" rIns="0" bIns="0" rtlCol="0" anchor="ctr"/>
          <a:lstStyle/>
          <a:p>
            <a:pPr algn="ctr" indent="0" marL="0">
              <a:buNone/>
            </a:pPr>
            <a:r>
              <a:rPr lang="en-US" sz="1000" b="1" dirty="0">
                <a:solidFill>
                  <a:srgbClr val="FFFFFF"/>
                </a:solidFill>
              </a:rPr>
              <a:t>Progress</a:t>
            </a:r>
            <a:endParaRPr lang="en-US" sz="1000" dirty="0"/>
          </a:p>
        </p:txBody>
      </p:sp>
      <p:sp>
        <p:nvSpPr>
          <p:cNvPr id="5" name="Text 3"/>
          <p:cNvSpPr/>
          <p:nvPr/>
        </p:nvSpPr>
        <p:spPr>
          <a:xfrm>
            <a:off x="594360" y="347472"/>
            <a:ext cx="8138160" cy="411480"/>
          </a:xfrm>
          <a:prstGeom prst="rect">
            <a:avLst/>
          </a:prstGeom>
          <a:noFill/>
          <a:ln/>
        </p:spPr>
        <p:txBody>
          <a:bodyPr wrap="square" lIns="0" tIns="0" rIns="0" bIns="0" rtlCol="0" anchor="ctr"/>
          <a:lstStyle/>
          <a:p>
            <a:pPr indent="0" marL="0">
              <a:buNone/>
            </a:pPr>
            <a:r>
              <a:rPr lang="en-US" sz="2600" b="1" dirty="0">
                <a:solidFill>
                  <a:srgbClr val="1E2E3A"/>
                </a:solidFill>
                <a:latin typeface="Aptos Display" pitchFamily="34" charset="0"/>
                <a:ea typeface="Aptos Display" pitchFamily="34" charset="-122"/>
                <a:cs typeface="Aptos Display" pitchFamily="34" charset="-120"/>
              </a:rPr>
              <a:t>What We Completed Last Week</a:t>
            </a:r>
            <a:endParaRPr lang="en-US" sz="2600" dirty="0"/>
          </a:p>
        </p:txBody>
      </p:sp>
      <p:sp>
        <p:nvSpPr>
          <p:cNvPr id="6" name="Text 4"/>
          <p:cNvSpPr/>
          <p:nvPr/>
        </p:nvSpPr>
        <p:spPr>
          <a:xfrm>
            <a:off x="603504" y="804672"/>
            <a:ext cx="7863840" cy="256032"/>
          </a:xfrm>
          <a:prstGeom prst="rect">
            <a:avLst/>
          </a:prstGeom>
          <a:noFill/>
          <a:ln/>
        </p:spPr>
        <p:txBody>
          <a:bodyPr wrap="square" lIns="0" tIns="0" rIns="0" bIns="0" rtlCol="0" anchor="ctr"/>
          <a:lstStyle/>
          <a:p>
            <a:pPr indent="0" marL="0">
              <a:buNone/>
            </a:pPr>
            <a:r>
              <a:rPr lang="en-US" sz="1150" dirty="0">
                <a:solidFill>
                  <a:srgbClr val="6E8391"/>
                </a:solidFill>
              </a:rPr>
              <a:t>Research foundation + labeled image data + sensor purchasing.</a:t>
            </a:r>
            <a:endParaRPr lang="en-US" sz="1150" dirty="0"/>
          </a:p>
        </p:txBody>
      </p:sp>
      <p:pic>
        <p:nvPicPr>
          <p:cNvPr id="7" name="Image 0" descr="/mnt/data/crop_research_panel.jpg">    </p:cNvPr>
          <p:cNvPicPr>
            <a:picLocks noChangeAspect="1"/>
          </p:cNvPicPr>
          <p:nvPr/>
        </p:nvPicPr>
        <p:blipFill>
          <a:blip r:embed="rId1"/>
          <a:stretch>
            <a:fillRect/>
          </a:stretch>
        </p:blipFill>
        <p:spPr>
          <a:xfrm>
            <a:off x="594360" y="1325880"/>
            <a:ext cx="4251960" cy="4526280"/>
          </a:xfrm>
          <a:prstGeom prst="rect">
            <a:avLst/>
          </a:prstGeom>
        </p:spPr>
      </p:pic>
      <p:sp>
        <p:nvSpPr>
          <p:cNvPr id="8" name="Shape 5"/>
          <p:cNvSpPr/>
          <p:nvPr/>
        </p:nvSpPr>
        <p:spPr>
          <a:xfrm>
            <a:off x="5257800" y="1417320"/>
            <a:ext cx="6172200" cy="1078992"/>
          </a:xfrm>
          <a:prstGeom prst="roundRect">
            <a:avLst>
              <a:gd name="adj" fmla="val 10169"/>
            </a:avLst>
          </a:prstGeom>
          <a:solidFill>
            <a:srgbClr val="FFFFFF"/>
          </a:solidFill>
          <a:ln w="12700">
            <a:solidFill>
              <a:srgbClr val="DDEEF4">
                <a:alpha val="90000"/>
              </a:srgbClr>
            </a:solidFill>
            <a:prstDash val="solid"/>
          </a:ln>
        </p:spPr>
      </p:sp>
      <p:sp>
        <p:nvSpPr>
          <p:cNvPr id="9" name="Shape 6"/>
          <p:cNvSpPr/>
          <p:nvPr/>
        </p:nvSpPr>
        <p:spPr>
          <a:xfrm>
            <a:off x="5257800" y="1417320"/>
            <a:ext cx="118872" cy="1078992"/>
          </a:xfrm>
          <a:prstGeom prst="rect">
            <a:avLst/>
          </a:prstGeom>
          <a:solidFill>
            <a:srgbClr val="00A6B4"/>
          </a:solidFill>
          <a:ln w="12700">
            <a:solidFill>
              <a:srgbClr val="333333">
                <a:alpha val="0"/>
              </a:srgbClr>
            </a:solidFill>
            <a:prstDash val="solid"/>
          </a:ln>
        </p:spPr>
      </p:sp>
      <p:sp>
        <p:nvSpPr>
          <p:cNvPr id="10" name="Text 7"/>
          <p:cNvSpPr/>
          <p:nvPr/>
        </p:nvSpPr>
        <p:spPr>
          <a:xfrm>
            <a:off x="5532120" y="1591056"/>
            <a:ext cx="2103120" cy="219456"/>
          </a:xfrm>
          <a:prstGeom prst="rect">
            <a:avLst/>
          </a:prstGeom>
          <a:noFill/>
          <a:ln/>
        </p:spPr>
        <p:txBody>
          <a:bodyPr wrap="square" lIns="508" tIns="508" rIns="508" bIns="508" rtlCol="0" anchor="t">
            <a:normAutofit/>
          </a:bodyPr>
          <a:lstStyle/>
          <a:p>
            <a:pPr algn="l" indent="0" marL="0">
              <a:buNone/>
            </a:pPr>
            <a:r>
              <a:rPr lang="en-US" sz="1700" b="1" dirty="0">
                <a:solidFill>
                  <a:srgbClr val="1E2E3A"/>
                </a:solidFill>
                <a:latin typeface="Aptos" pitchFamily="34" charset="0"/>
                <a:ea typeface="Aptos" pitchFamily="34" charset="-122"/>
                <a:cs typeface="Aptos" pitchFamily="34" charset="-120"/>
              </a:rPr>
              <a:t>Image labeling</a:t>
            </a:r>
            <a:endParaRPr lang="en-US" sz="1700" dirty="0"/>
          </a:p>
        </p:txBody>
      </p:sp>
      <p:sp>
        <p:nvSpPr>
          <p:cNvPr id="11" name="Text 8"/>
          <p:cNvSpPr/>
          <p:nvPr/>
        </p:nvSpPr>
        <p:spPr>
          <a:xfrm>
            <a:off x="5532120" y="1920240"/>
            <a:ext cx="5440680" cy="384048"/>
          </a:xfrm>
          <a:prstGeom prst="rect">
            <a:avLst/>
          </a:prstGeom>
          <a:noFill/>
          <a:ln/>
        </p:spPr>
        <p:txBody>
          <a:bodyPr wrap="square" lIns="508" tIns="508" rIns="508" bIns="508" rtlCol="0" anchor="t">
            <a:normAutofit/>
          </a:bodyPr>
          <a:lstStyle/>
          <a:p>
            <a:pPr algn="l" indent="0" marL="0">
              <a:buNone/>
            </a:pPr>
            <a:r>
              <a:rPr lang="en-US" sz="1400" dirty="0">
                <a:solidFill>
                  <a:srgbClr val="1E2E3A"/>
                </a:solidFill>
                <a:latin typeface="Aptos" pitchFamily="34" charset="0"/>
                <a:ea typeface="Aptos" pitchFamily="34" charset="-122"/>
                <a:cs typeface="Aptos" pitchFamily="34" charset="-120"/>
              </a:rPr>
              <a:t>Prepared fish image labels for later comparison with water clarity.</a:t>
            </a:r>
            <a:endParaRPr lang="en-US" sz="1400" dirty="0"/>
          </a:p>
        </p:txBody>
      </p:sp>
      <p:sp>
        <p:nvSpPr>
          <p:cNvPr id="12" name="Shape 9"/>
          <p:cNvSpPr/>
          <p:nvPr/>
        </p:nvSpPr>
        <p:spPr>
          <a:xfrm>
            <a:off x="5257800" y="2807208"/>
            <a:ext cx="6172200" cy="1078992"/>
          </a:xfrm>
          <a:prstGeom prst="roundRect">
            <a:avLst>
              <a:gd name="adj" fmla="val 10169"/>
            </a:avLst>
          </a:prstGeom>
          <a:solidFill>
            <a:srgbClr val="FFFFFF"/>
          </a:solidFill>
          <a:ln w="12700">
            <a:solidFill>
              <a:srgbClr val="DDEEF4">
                <a:alpha val="90000"/>
              </a:srgbClr>
            </a:solidFill>
            <a:prstDash val="solid"/>
          </a:ln>
        </p:spPr>
      </p:sp>
      <p:sp>
        <p:nvSpPr>
          <p:cNvPr id="13" name="Shape 10"/>
          <p:cNvSpPr/>
          <p:nvPr/>
        </p:nvSpPr>
        <p:spPr>
          <a:xfrm>
            <a:off x="5257800" y="2807208"/>
            <a:ext cx="118872" cy="1078992"/>
          </a:xfrm>
          <a:prstGeom prst="rect">
            <a:avLst/>
          </a:prstGeom>
          <a:solidFill>
            <a:srgbClr val="1D75D8"/>
          </a:solidFill>
          <a:ln w="12700">
            <a:solidFill>
              <a:srgbClr val="333333">
                <a:alpha val="0"/>
              </a:srgbClr>
            </a:solidFill>
            <a:prstDash val="solid"/>
          </a:ln>
        </p:spPr>
      </p:sp>
      <p:sp>
        <p:nvSpPr>
          <p:cNvPr id="14" name="Text 11"/>
          <p:cNvSpPr/>
          <p:nvPr/>
        </p:nvSpPr>
        <p:spPr>
          <a:xfrm>
            <a:off x="5532120" y="2980944"/>
            <a:ext cx="2103120" cy="219456"/>
          </a:xfrm>
          <a:prstGeom prst="rect">
            <a:avLst/>
          </a:prstGeom>
          <a:noFill/>
          <a:ln/>
        </p:spPr>
        <p:txBody>
          <a:bodyPr wrap="square" lIns="508" tIns="508" rIns="508" bIns="508" rtlCol="0" anchor="t">
            <a:normAutofit/>
          </a:bodyPr>
          <a:lstStyle/>
          <a:p>
            <a:pPr algn="l" indent="0" marL="0">
              <a:buNone/>
            </a:pPr>
            <a:r>
              <a:rPr lang="en-US" sz="1700" b="1" dirty="0">
                <a:solidFill>
                  <a:srgbClr val="1E2E3A"/>
                </a:solidFill>
                <a:latin typeface="Aptos" pitchFamily="34" charset="0"/>
                <a:ea typeface="Aptos" pitchFamily="34" charset="-122"/>
                <a:cs typeface="Aptos" pitchFamily="34" charset="-120"/>
              </a:rPr>
              <a:t>Sensor research</a:t>
            </a:r>
            <a:endParaRPr lang="en-US" sz="1700" dirty="0"/>
          </a:p>
        </p:txBody>
      </p:sp>
      <p:sp>
        <p:nvSpPr>
          <p:cNvPr id="15" name="Text 12"/>
          <p:cNvSpPr/>
          <p:nvPr/>
        </p:nvSpPr>
        <p:spPr>
          <a:xfrm>
            <a:off x="5532120" y="3310128"/>
            <a:ext cx="5440680" cy="384048"/>
          </a:xfrm>
          <a:prstGeom prst="rect">
            <a:avLst/>
          </a:prstGeom>
          <a:noFill/>
          <a:ln/>
        </p:spPr>
        <p:txBody>
          <a:bodyPr wrap="square" lIns="508" tIns="508" rIns="508" bIns="508" rtlCol="0" anchor="t">
            <a:normAutofit/>
          </a:bodyPr>
          <a:lstStyle/>
          <a:p>
            <a:pPr algn="l" indent="0" marL="0">
              <a:buNone/>
            </a:pPr>
            <a:r>
              <a:rPr lang="en-US" sz="1400" dirty="0">
                <a:solidFill>
                  <a:srgbClr val="1E2E3A"/>
                </a:solidFill>
                <a:latin typeface="Aptos" pitchFamily="34" charset="0"/>
                <a:ea typeface="Aptos" pitchFamily="34" charset="-122"/>
                <a:cs typeface="Aptos" pitchFamily="34" charset="-120"/>
              </a:rPr>
              <a:t>Studied turbidity sensor workflow: voltage reading → turbidity level.</a:t>
            </a:r>
            <a:endParaRPr lang="en-US" sz="1400" dirty="0"/>
          </a:p>
        </p:txBody>
      </p:sp>
      <p:sp>
        <p:nvSpPr>
          <p:cNvPr id="16" name="Shape 13"/>
          <p:cNvSpPr/>
          <p:nvPr/>
        </p:nvSpPr>
        <p:spPr>
          <a:xfrm>
            <a:off x="5257800" y="4197096"/>
            <a:ext cx="6172200" cy="1078992"/>
          </a:xfrm>
          <a:prstGeom prst="roundRect">
            <a:avLst>
              <a:gd name="adj" fmla="val 10169"/>
            </a:avLst>
          </a:prstGeom>
          <a:solidFill>
            <a:srgbClr val="FFFFFF"/>
          </a:solidFill>
          <a:ln w="12700">
            <a:solidFill>
              <a:srgbClr val="DDEEF4">
                <a:alpha val="90000"/>
              </a:srgbClr>
            </a:solidFill>
            <a:prstDash val="solid"/>
          </a:ln>
        </p:spPr>
      </p:sp>
      <p:sp>
        <p:nvSpPr>
          <p:cNvPr id="17" name="Shape 14"/>
          <p:cNvSpPr/>
          <p:nvPr/>
        </p:nvSpPr>
        <p:spPr>
          <a:xfrm>
            <a:off x="5257800" y="4197096"/>
            <a:ext cx="118872" cy="1078992"/>
          </a:xfrm>
          <a:prstGeom prst="rect">
            <a:avLst/>
          </a:prstGeom>
          <a:solidFill>
            <a:srgbClr val="F4A261"/>
          </a:solidFill>
          <a:ln w="12700">
            <a:solidFill>
              <a:srgbClr val="333333">
                <a:alpha val="0"/>
              </a:srgbClr>
            </a:solidFill>
            <a:prstDash val="solid"/>
          </a:ln>
        </p:spPr>
      </p:sp>
      <p:sp>
        <p:nvSpPr>
          <p:cNvPr id="18" name="Text 15"/>
          <p:cNvSpPr/>
          <p:nvPr/>
        </p:nvSpPr>
        <p:spPr>
          <a:xfrm>
            <a:off x="5532120" y="4370832"/>
            <a:ext cx="2103120" cy="219456"/>
          </a:xfrm>
          <a:prstGeom prst="rect">
            <a:avLst/>
          </a:prstGeom>
          <a:noFill/>
          <a:ln/>
        </p:spPr>
        <p:txBody>
          <a:bodyPr wrap="square" lIns="508" tIns="508" rIns="508" bIns="508" rtlCol="0" anchor="t">
            <a:normAutofit/>
          </a:bodyPr>
          <a:lstStyle/>
          <a:p>
            <a:pPr algn="l" indent="0" marL="0">
              <a:buNone/>
            </a:pPr>
            <a:r>
              <a:rPr lang="en-US" sz="1700" b="1" dirty="0">
                <a:solidFill>
                  <a:srgbClr val="1E2E3A"/>
                </a:solidFill>
                <a:latin typeface="Aptos" pitchFamily="34" charset="0"/>
                <a:ea typeface="Aptos" pitchFamily="34" charset="-122"/>
                <a:cs typeface="Aptos" pitchFamily="34" charset="-120"/>
              </a:rPr>
              <a:t>Component order</a:t>
            </a:r>
            <a:endParaRPr lang="en-US" sz="1700" dirty="0"/>
          </a:p>
        </p:txBody>
      </p:sp>
      <p:sp>
        <p:nvSpPr>
          <p:cNvPr id="19" name="Text 16"/>
          <p:cNvSpPr/>
          <p:nvPr/>
        </p:nvSpPr>
        <p:spPr>
          <a:xfrm>
            <a:off x="5532120" y="4700016"/>
            <a:ext cx="5440680" cy="384048"/>
          </a:xfrm>
          <a:prstGeom prst="rect">
            <a:avLst/>
          </a:prstGeom>
          <a:noFill/>
          <a:ln/>
        </p:spPr>
        <p:txBody>
          <a:bodyPr wrap="square" lIns="508" tIns="508" rIns="508" bIns="508" rtlCol="0" anchor="t">
            <a:normAutofit/>
          </a:bodyPr>
          <a:lstStyle/>
          <a:p>
            <a:pPr algn="l" indent="0" marL="0">
              <a:buNone/>
            </a:pPr>
            <a:r>
              <a:rPr lang="en-US" sz="1400" dirty="0">
                <a:solidFill>
                  <a:srgbClr val="1E2E3A"/>
                </a:solidFill>
                <a:latin typeface="Aptos" pitchFamily="34" charset="0"/>
                <a:ea typeface="Aptos" pitchFamily="34" charset="-122"/>
                <a:cs typeface="Aptos" pitchFamily="34" charset="-120"/>
              </a:rPr>
              <a:t>Ordered the turbidity sensor and prepared ESP32 wiring plan.</a:t>
            </a:r>
            <a:endParaRPr lang="en-US" sz="1400" dirty="0"/>
          </a:p>
        </p:txBody>
      </p:sp>
      <p:sp>
        <p:nvSpPr>
          <p:cNvPr id="20" name="Shape 17"/>
          <p:cNvSpPr/>
          <p:nvPr/>
        </p:nvSpPr>
        <p:spPr>
          <a:xfrm>
            <a:off x="5257800" y="5623560"/>
            <a:ext cx="6172200" cy="493776"/>
          </a:xfrm>
          <a:prstGeom prst="roundRect">
            <a:avLst>
              <a:gd name="adj" fmla="val 22222"/>
            </a:avLst>
          </a:prstGeom>
          <a:solidFill>
            <a:srgbClr val="DDEEF4"/>
          </a:solidFill>
          <a:ln w="12700">
            <a:solidFill>
              <a:srgbClr val="333333">
                <a:alpha val="0"/>
              </a:srgbClr>
            </a:solidFill>
            <a:prstDash val="solid"/>
          </a:ln>
        </p:spPr>
      </p:sp>
      <p:sp>
        <p:nvSpPr>
          <p:cNvPr id="21" name="Text 18"/>
          <p:cNvSpPr/>
          <p:nvPr/>
        </p:nvSpPr>
        <p:spPr>
          <a:xfrm>
            <a:off x="5486400" y="5779008"/>
            <a:ext cx="5669280" cy="109728"/>
          </a:xfrm>
          <a:prstGeom prst="rect">
            <a:avLst/>
          </a:prstGeom>
          <a:noFill/>
          <a:ln/>
        </p:spPr>
        <p:txBody>
          <a:bodyPr wrap="square" lIns="508" tIns="508" rIns="508" bIns="508" rtlCol="0" anchor="t">
            <a:normAutofit/>
          </a:bodyPr>
          <a:lstStyle/>
          <a:p>
            <a:pPr algn="ctr" indent="0" marL="0">
              <a:buNone/>
            </a:pPr>
            <a:r>
              <a:rPr lang="en-US" sz="1050" dirty="0">
                <a:solidFill>
                  <a:srgbClr val="6E8391"/>
                </a:solidFill>
                <a:latin typeface="Aptos" pitchFamily="34" charset="0"/>
                <a:ea typeface="Aptos" pitchFamily="34" charset="-122"/>
                <a:cs typeface="Aptos" pitchFamily="34" charset="-120"/>
              </a:rPr>
              <a:t>Project repository: github.com/104240336-png/Water-Turbidity-Detection-</a:t>
            </a:r>
            <a:endParaRPr lang="en-US" sz="1050" dirty="0"/>
          </a:p>
        </p:txBody>
      </p:sp>
      <p:sp>
        <p:nvSpPr>
          <p:cNvPr id="22" name="Text 19"/>
          <p:cNvSpPr/>
          <p:nvPr/>
        </p:nvSpPr>
        <p:spPr>
          <a:xfrm>
            <a:off x="11109960" y="6446520"/>
            <a:ext cx="502920" cy="164592"/>
          </a:xfrm>
          <a:prstGeom prst="rect">
            <a:avLst/>
          </a:prstGeom>
          <a:noFill/>
          <a:ln/>
        </p:spPr>
        <p:txBody>
          <a:bodyPr wrap="square" lIns="0" tIns="0" rIns="0" bIns="0" rtlCol="0" anchor="ctr"/>
          <a:lstStyle/>
          <a:p>
            <a:pPr algn="r" indent="0" marL="0">
              <a:buNone/>
            </a:pPr>
            <a:r>
              <a:rPr lang="en-US" sz="900" b="1" dirty="0">
                <a:solidFill>
                  <a:srgbClr val="6E8391"/>
                </a:solidFill>
              </a:rPr>
              <a:t>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D75D8"/>
          </a:solidFill>
          <a:ln w="12700">
            <a:solidFill>
              <a:srgbClr val="333333">
                <a:alpha val="0"/>
              </a:srgbClr>
            </a:solidFill>
            <a:prstDash val="solid"/>
          </a:ln>
        </p:spPr>
      </p:sp>
      <p:sp>
        <p:nvSpPr>
          <p:cNvPr id="3" name="Shape 1"/>
          <p:cNvSpPr/>
          <p:nvPr/>
        </p:nvSpPr>
        <p:spPr>
          <a:xfrm>
            <a:off x="10149840" y="384048"/>
            <a:ext cx="1325880" cy="347472"/>
          </a:xfrm>
          <a:prstGeom prst="roundRect">
            <a:avLst>
              <a:gd name="adj" fmla="val 21053"/>
            </a:avLst>
          </a:prstGeom>
          <a:solidFill>
            <a:srgbClr val="1D75D8"/>
          </a:solidFill>
          <a:ln w="12700">
            <a:solidFill>
              <a:srgbClr val="333333">
                <a:alpha val="0"/>
              </a:srgbClr>
            </a:solidFill>
            <a:prstDash val="solid"/>
          </a:ln>
        </p:spPr>
      </p:sp>
      <p:sp>
        <p:nvSpPr>
          <p:cNvPr id="4" name="Text 2"/>
          <p:cNvSpPr/>
          <p:nvPr/>
        </p:nvSpPr>
        <p:spPr>
          <a:xfrm>
            <a:off x="10149840" y="457200"/>
            <a:ext cx="1325880" cy="164592"/>
          </a:xfrm>
          <a:prstGeom prst="rect">
            <a:avLst/>
          </a:prstGeom>
          <a:noFill/>
          <a:ln/>
        </p:spPr>
        <p:txBody>
          <a:bodyPr wrap="square" lIns="0" tIns="0" rIns="0" bIns="0" rtlCol="0" anchor="ctr"/>
          <a:lstStyle/>
          <a:p>
            <a:pPr algn="ctr" indent="0" marL="0">
              <a:buNone/>
            </a:pPr>
            <a:r>
              <a:rPr lang="en-US" sz="1000" b="1" dirty="0">
                <a:solidFill>
                  <a:srgbClr val="FFFFFF"/>
                </a:solidFill>
              </a:rPr>
              <a:t>Hardware</a:t>
            </a:r>
            <a:endParaRPr lang="en-US" sz="1000" dirty="0"/>
          </a:p>
        </p:txBody>
      </p:sp>
      <p:sp>
        <p:nvSpPr>
          <p:cNvPr id="5" name="Text 3"/>
          <p:cNvSpPr/>
          <p:nvPr/>
        </p:nvSpPr>
        <p:spPr>
          <a:xfrm>
            <a:off x="594360" y="347472"/>
            <a:ext cx="8138160" cy="411480"/>
          </a:xfrm>
          <a:prstGeom prst="rect">
            <a:avLst/>
          </a:prstGeom>
          <a:noFill/>
          <a:ln/>
        </p:spPr>
        <p:txBody>
          <a:bodyPr wrap="square" lIns="0" tIns="0" rIns="0" bIns="0" rtlCol="0" anchor="ctr"/>
          <a:lstStyle/>
          <a:p>
            <a:pPr indent="0" marL="0">
              <a:buNone/>
            </a:pPr>
            <a:r>
              <a:rPr lang="en-US" sz="2600" b="1" dirty="0">
                <a:solidFill>
                  <a:srgbClr val="1E2E3A"/>
                </a:solidFill>
                <a:latin typeface="Aptos Display" pitchFamily="34" charset="0"/>
                <a:ea typeface="Aptos Display" pitchFamily="34" charset="-122"/>
                <a:cs typeface="Aptos Display" pitchFamily="34" charset="-120"/>
              </a:rPr>
              <a:t>Current Hardware Integration</a:t>
            </a:r>
            <a:endParaRPr lang="en-US" sz="2600" dirty="0"/>
          </a:p>
        </p:txBody>
      </p:sp>
      <p:sp>
        <p:nvSpPr>
          <p:cNvPr id="6" name="Text 4"/>
          <p:cNvSpPr/>
          <p:nvPr/>
        </p:nvSpPr>
        <p:spPr>
          <a:xfrm>
            <a:off x="603504" y="804672"/>
            <a:ext cx="7863840" cy="256032"/>
          </a:xfrm>
          <a:prstGeom prst="rect">
            <a:avLst/>
          </a:prstGeom>
          <a:noFill/>
          <a:ln/>
        </p:spPr>
        <p:txBody>
          <a:bodyPr wrap="square" lIns="0" tIns="0" rIns="0" bIns="0" rtlCol="0" anchor="ctr"/>
          <a:lstStyle/>
          <a:p>
            <a:pPr indent="0" marL="0">
              <a:buNone/>
            </a:pPr>
            <a:r>
              <a:rPr lang="en-US" sz="1150" dirty="0">
                <a:solidFill>
                  <a:srgbClr val="6E8391"/>
                </a:solidFill>
              </a:rPr>
              <a:t>The sensor is here, but raw readings still need debugging.</a:t>
            </a:r>
            <a:endParaRPr lang="en-US" sz="1150" dirty="0"/>
          </a:p>
        </p:txBody>
      </p:sp>
      <p:sp>
        <p:nvSpPr>
          <p:cNvPr id="7" name="Shape 5"/>
          <p:cNvSpPr/>
          <p:nvPr/>
        </p:nvSpPr>
        <p:spPr>
          <a:xfrm>
            <a:off x="731520" y="1554480"/>
            <a:ext cx="2395728" cy="1325880"/>
          </a:xfrm>
          <a:prstGeom prst="roundRect">
            <a:avLst>
              <a:gd name="adj" fmla="val 8276"/>
            </a:avLst>
          </a:prstGeom>
          <a:solidFill>
            <a:srgbClr val="EFF7FA"/>
          </a:solidFill>
          <a:ln w="12700">
            <a:solidFill>
              <a:srgbClr val="DDEEF4">
                <a:alpha val="90000"/>
              </a:srgbClr>
            </a:solidFill>
            <a:prstDash val="solid"/>
          </a:ln>
        </p:spPr>
      </p:sp>
      <p:sp>
        <p:nvSpPr>
          <p:cNvPr id="8" name="Text 6"/>
          <p:cNvSpPr/>
          <p:nvPr/>
        </p:nvSpPr>
        <p:spPr>
          <a:xfrm>
            <a:off x="896112" y="1783080"/>
            <a:ext cx="1828800" cy="182880"/>
          </a:xfrm>
          <a:prstGeom prst="rect">
            <a:avLst/>
          </a:prstGeom>
          <a:noFill/>
          <a:ln/>
        </p:spPr>
        <p:txBody>
          <a:bodyPr wrap="square" lIns="508" tIns="508" rIns="508" bIns="508" rtlCol="0" anchor="t">
            <a:normAutofit/>
          </a:bodyPr>
          <a:lstStyle/>
          <a:p>
            <a:pPr algn="l" indent="0" marL="0">
              <a:buNone/>
            </a:pPr>
            <a:r>
              <a:rPr lang="en-US" sz="1550" b="1" dirty="0">
                <a:solidFill>
                  <a:srgbClr val="1D75D8"/>
                </a:solidFill>
                <a:latin typeface="Aptos" pitchFamily="34" charset="0"/>
                <a:ea typeface="Aptos" pitchFamily="34" charset="-122"/>
                <a:cs typeface="Aptos" pitchFamily="34" charset="-120"/>
              </a:rPr>
              <a:t>Sensor probe</a:t>
            </a:r>
            <a:endParaRPr lang="en-US" sz="1550" dirty="0"/>
          </a:p>
        </p:txBody>
      </p:sp>
      <p:sp>
        <p:nvSpPr>
          <p:cNvPr id="9" name="Text 7"/>
          <p:cNvSpPr/>
          <p:nvPr/>
        </p:nvSpPr>
        <p:spPr>
          <a:xfrm>
            <a:off x="896112" y="2148840"/>
            <a:ext cx="1920240" cy="256032"/>
          </a:xfrm>
          <a:prstGeom prst="rect">
            <a:avLst/>
          </a:prstGeom>
          <a:noFill/>
          <a:ln/>
        </p:spPr>
        <p:txBody>
          <a:bodyPr wrap="square" lIns="508" tIns="508" rIns="508" bIns="508" rtlCol="0" anchor="t">
            <a:normAutofit/>
          </a:bodyPr>
          <a:lstStyle/>
          <a:p>
            <a:pPr algn="l" indent="0" marL="0">
              <a:buNone/>
            </a:pPr>
            <a:r>
              <a:rPr lang="en-US" sz="1350" dirty="0">
                <a:solidFill>
                  <a:srgbClr val="1E2E3A"/>
                </a:solidFill>
                <a:latin typeface="Aptos" pitchFamily="34" charset="0"/>
                <a:ea typeface="Aptos" pitchFamily="34" charset="-122"/>
                <a:cs typeface="Aptos" pitchFamily="34" charset="-120"/>
              </a:rPr>
              <a:t>Placed in water</a:t>
            </a:r>
            <a:endParaRPr lang="en-US" sz="1350" dirty="0"/>
          </a:p>
        </p:txBody>
      </p:sp>
      <p:sp>
        <p:nvSpPr>
          <p:cNvPr id="10" name="Shape 8"/>
          <p:cNvSpPr/>
          <p:nvPr/>
        </p:nvSpPr>
        <p:spPr>
          <a:xfrm>
            <a:off x="3127248" y="2221992"/>
            <a:ext cx="347472" cy="0"/>
          </a:xfrm>
          <a:prstGeom prst="line">
            <a:avLst/>
          </a:prstGeom>
          <a:noFill/>
          <a:ln w="27940">
            <a:solidFill>
              <a:srgbClr val="00A6B4"/>
            </a:solidFill>
            <a:prstDash val="solid"/>
            <a:headEnd type="none"/>
            <a:tailEnd type="triangle"/>
          </a:ln>
        </p:spPr>
      </p:sp>
      <p:sp>
        <p:nvSpPr>
          <p:cNvPr id="11" name="Shape 9"/>
          <p:cNvSpPr/>
          <p:nvPr/>
        </p:nvSpPr>
        <p:spPr>
          <a:xfrm>
            <a:off x="3547872" y="1554480"/>
            <a:ext cx="2395728" cy="1325880"/>
          </a:xfrm>
          <a:prstGeom prst="roundRect">
            <a:avLst>
              <a:gd name="adj" fmla="val 8276"/>
            </a:avLst>
          </a:prstGeom>
          <a:solidFill>
            <a:srgbClr val="EFF7FA"/>
          </a:solidFill>
          <a:ln w="12700">
            <a:solidFill>
              <a:srgbClr val="DDEEF4">
                <a:alpha val="90000"/>
              </a:srgbClr>
            </a:solidFill>
            <a:prstDash val="solid"/>
          </a:ln>
        </p:spPr>
      </p:sp>
      <p:sp>
        <p:nvSpPr>
          <p:cNvPr id="12" name="Text 10"/>
          <p:cNvSpPr/>
          <p:nvPr/>
        </p:nvSpPr>
        <p:spPr>
          <a:xfrm>
            <a:off x="3712464" y="1783080"/>
            <a:ext cx="1828800" cy="182880"/>
          </a:xfrm>
          <a:prstGeom prst="rect">
            <a:avLst/>
          </a:prstGeom>
          <a:noFill/>
          <a:ln/>
        </p:spPr>
        <p:txBody>
          <a:bodyPr wrap="square" lIns="508" tIns="508" rIns="508" bIns="508" rtlCol="0" anchor="t">
            <a:normAutofit/>
          </a:bodyPr>
          <a:lstStyle/>
          <a:p>
            <a:pPr algn="l" indent="0" marL="0">
              <a:buNone/>
            </a:pPr>
            <a:r>
              <a:rPr lang="en-US" sz="1550" b="1" dirty="0">
                <a:solidFill>
                  <a:srgbClr val="1D75D8"/>
                </a:solidFill>
                <a:latin typeface="Aptos" pitchFamily="34" charset="0"/>
                <a:ea typeface="Aptos" pitchFamily="34" charset="-122"/>
                <a:cs typeface="Aptos" pitchFamily="34" charset="-120"/>
              </a:rPr>
              <a:t>ESP32 ADC</a:t>
            </a:r>
            <a:endParaRPr lang="en-US" sz="1550" dirty="0"/>
          </a:p>
        </p:txBody>
      </p:sp>
      <p:sp>
        <p:nvSpPr>
          <p:cNvPr id="13" name="Text 11"/>
          <p:cNvSpPr/>
          <p:nvPr/>
        </p:nvSpPr>
        <p:spPr>
          <a:xfrm>
            <a:off x="3712464" y="2148840"/>
            <a:ext cx="1920240" cy="256032"/>
          </a:xfrm>
          <a:prstGeom prst="rect">
            <a:avLst/>
          </a:prstGeom>
          <a:noFill/>
          <a:ln/>
        </p:spPr>
        <p:txBody>
          <a:bodyPr wrap="square" lIns="508" tIns="508" rIns="508" bIns="508" rtlCol="0" anchor="t">
            <a:normAutofit/>
          </a:bodyPr>
          <a:lstStyle/>
          <a:p>
            <a:pPr algn="l" indent="0" marL="0">
              <a:buNone/>
            </a:pPr>
            <a:r>
              <a:rPr lang="en-US" sz="1350" dirty="0">
                <a:solidFill>
                  <a:srgbClr val="1E2E3A"/>
                </a:solidFill>
                <a:latin typeface="Aptos" pitchFamily="34" charset="0"/>
                <a:ea typeface="Aptos" pitchFamily="34" charset="-122"/>
                <a:cs typeface="Aptos" pitchFamily="34" charset="-120"/>
              </a:rPr>
              <a:t>Reads analog signal</a:t>
            </a:r>
            <a:endParaRPr lang="en-US" sz="1350" dirty="0"/>
          </a:p>
        </p:txBody>
      </p:sp>
      <p:sp>
        <p:nvSpPr>
          <p:cNvPr id="14" name="Shape 12"/>
          <p:cNvSpPr/>
          <p:nvPr/>
        </p:nvSpPr>
        <p:spPr>
          <a:xfrm>
            <a:off x="5943600" y="2221992"/>
            <a:ext cx="347472" cy="0"/>
          </a:xfrm>
          <a:prstGeom prst="line">
            <a:avLst/>
          </a:prstGeom>
          <a:noFill/>
          <a:ln w="27940">
            <a:solidFill>
              <a:srgbClr val="00A6B4"/>
            </a:solidFill>
            <a:prstDash val="solid"/>
            <a:headEnd type="none"/>
            <a:tailEnd type="triangle"/>
          </a:ln>
        </p:spPr>
      </p:sp>
      <p:sp>
        <p:nvSpPr>
          <p:cNvPr id="15" name="Shape 13"/>
          <p:cNvSpPr/>
          <p:nvPr/>
        </p:nvSpPr>
        <p:spPr>
          <a:xfrm>
            <a:off x="6364224" y="1554480"/>
            <a:ext cx="2395728" cy="1325880"/>
          </a:xfrm>
          <a:prstGeom prst="roundRect">
            <a:avLst>
              <a:gd name="adj" fmla="val 8276"/>
            </a:avLst>
          </a:prstGeom>
          <a:solidFill>
            <a:srgbClr val="0B1E33"/>
          </a:solidFill>
          <a:ln w="12700">
            <a:solidFill>
              <a:srgbClr val="333333">
                <a:alpha val="0"/>
              </a:srgbClr>
            </a:solidFill>
            <a:prstDash val="solid"/>
          </a:ln>
        </p:spPr>
      </p:sp>
      <p:sp>
        <p:nvSpPr>
          <p:cNvPr id="16" name="Text 14"/>
          <p:cNvSpPr/>
          <p:nvPr/>
        </p:nvSpPr>
        <p:spPr>
          <a:xfrm>
            <a:off x="6528816" y="1783080"/>
            <a:ext cx="1828800" cy="182880"/>
          </a:xfrm>
          <a:prstGeom prst="rect">
            <a:avLst/>
          </a:prstGeom>
          <a:noFill/>
          <a:ln/>
        </p:spPr>
        <p:txBody>
          <a:bodyPr wrap="square" lIns="508" tIns="508" rIns="508" bIns="508" rtlCol="0" anchor="t">
            <a:normAutofit/>
          </a:bodyPr>
          <a:lstStyle/>
          <a:p>
            <a:pPr algn="l" indent="0" marL="0">
              <a:buNone/>
            </a:pPr>
            <a:r>
              <a:rPr lang="en-US" sz="1550" b="1" dirty="0">
                <a:solidFill>
                  <a:srgbClr val="FFFFFF"/>
                </a:solidFill>
                <a:latin typeface="Aptos" pitchFamily="34" charset="0"/>
                <a:ea typeface="Aptos" pitchFamily="34" charset="-122"/>
                <a:cs typeface="Aptos" pitchFamily="34" charset="-120"/>
              </a:rPr>
              <a:t>Serial output</a:t>
            </a:r>
            <a:endParaRPr lang="en-US" sz="1550" dirty="0"/>
          </a:p>
        </p:txBody>
      </p:sp>
      <p:sp>
        <p:nvSpPr>
          <p:cNvPr id="17" name="Text 15"/>
          <p:cNvSpPr/>
          <p:nvPr/>
        </p:nvSpPr>
        <p:spPr>
          <a:xfrm>
            <a:off x="6528816" y="2148840"/>
            <a:ext cx="1920240" cy="256032"/>
          </a:xfrm>
          <a:prstGeom prst="rect">
            <a:avLst/>
          </a:prstGeom>
          <a:noFill/>
          <a:ln/>
        </p:spPr>
        <p:txBody>
          <a:bodyPr wrap="square" lIns="508" tIns="508" rIns="508" bIns="508" rtlCol="0" anchor="t">
            <a:normAutofit/>
          </a:bodyPr>
          <a:lstStyle/>
          <a:p>
            <a:pPr algn="l" indent="0" marL="0">
              <a:buNone/>
            </a:pPr>
            <a:r>
              <a:rPr lang="en-US" sz="1350" dirty="0">
                <a:solidFill>
                  <a:srgbClr val="5EE1F0"/>
                </a:solidFill>
                <a:latin typeface="Aptos" pitchFamily="34" charset="0"/>
                <a:ea typeface="Aptos" pitchFamily="34" charset="-122"/>
                <a:cs typeface="Aptos" pitchFamily="34" charset="-120"/>
              </a:rPr>
              <a:t>Shows raw value</a:t>
            </a:r>
            <a:endParaRPr lang="en-US" sz="1350" dirty="0"/>
          </a:p>
        </p:txBody>
      </p:sp>
      <p:sp>
        <p:nvSpPr>
          <p:cNvPr id="18" name="Shape 16"/>
          <p:cNvSpPr/>
          <p:nvPr/>
        </p:nvSpPr>
        <p:spPr>
          <a:xfrm>
            <a:off x="8759952" y="2221992"/>
            <a:ext cx="347472" cy="0"/>
          </a:xfrm>
          <a:prstGeom prst="line">
            <a:avLst/>
          </a:prstGeom>
          <a:noFill/>
          <a:ln w="27940">
            <a:solidFill>
              <a:srgbClr val="00A6B4"/>
            </a:solidFill>
            <a:prstDash val="solid"/>
            <a:headEnd type="none"/>
            <a:tailEnd type="triangle"/>
          </a:ln>
        </p:spPr>
      </p:sp>
      <p:sp>
        <p:nvSpPr>
          <p:cNvPr id="19" name="Shape 17"/>
          <p:cNvSpPr/>
          <p:nvPr/>
        </p:nvSpPr>
        <p:spPr>
          <a:xfrm>
            <a:off x="9180576" y="1554480"/>
            <a:ext cx="2395728" cy="1325880"/>
          </a:xfrm>
          <a:prstGeom prst="roundRect">
            <a:avLst>
              <a:gd name="adj" fmla="val 8276"/>
            </a:avLst>
          </a:prstGeom>
          <a:solidFill>
            <a:srgbClr val="EFF7FA"/>
          </a:solidFill>
          <a:ln w="12700">
            <a:solidFill>
              <a:srgbClr val="DDEEF4">
                <a:alpha val="90000"/>
              </a:srgbClr>
            </a:solidFill>
            <a:prstDash val="solid"/>
          </a:ln>
        </p:spPr>
      </p:sp>
      <p:sp>
        <p:nvSpPr>
          <p:cNvPr id="20" name="Text 18"/>
          <p:cNvSpPr/>
          <p:nvPr/>
        </p:nvSpPr>
        <p:spPr>
          <a:xfrm>
            <a:off x="9345168" y="1783080"/>
            <a:ext cx="1828800" cy="182880"/>
          </a:xfrm>
          <a:prstGeom prst="rect">
            <a:avLst/>
          </a:prstGeom>
          <a:noFill/>
          <a:ln/>
        </p:spPr>
        <p:txBody>
          <a:bodyPr wrap="square" lIns="508" tIns="508" rIns="508" bIns="508" rtlCol="0" anchor="t">
            <a:normAutofit/>
          </a:bodyPr>
          <a:lstStyle/>
          <a:p>
            <a:pPr algn="l" indent="0" marL="0">
              <a:buNone/>
            </a:pPr>
            <a:r>
              <a:rPr lang="en-US" sz="1550" b="1" dirty="0">
                <a:solidFill>
                  <a:srgbClr val="1D75D8"/>
                </a:solidFill>
                <a:latin typeface="Aptos" pitchFamily="34" charset="0"/>
                <a:ea typeface="Aptos" pitchFamily="34" charset="-122"/>
                <a:cs typeface="Aptos" pitchFamily="34" charset="-120"/>
              </a:rPr>
              <a:t>Next</a:t>
            </a:r>
            <a:endParaRPr lang="en-US" sz="1550" dirty="0"/>
          </a:p>
        </p:txBody>
      </p:sp>
      <p:sp>
        <p:nvSpPr>
          <p:cNvPr id="21" name="Text 19"/>
          <p:cNvSpPr/>
          <p:nvPr/>
        </p:nvSpPr>
        <p:spPr>
          <a:xfrm>
            <a:off x="9345168" y="2148840"/>
            <a:ext cx="1920240" cy="256032"/>
          </a:xfrm>
          <a:prstGeom prst="rect">
            <a:avLst/>
          </a:prstGeom>
          <a:noFill/>
          <a:ln/>
        </p:spPr>
        <p:txBody>
          <a:bodyPr wrap="square" lIns="508" tIns="508" rIns="508" bIns="508" rtlCol="0" anchor="t">
            <a:normAutofit/>
          </a:bodyPr>
          <a:lstStyle/>
          <a:p>
            <a:pPr algn="l" indent="0" marL="0">
              <a:buNone/>
            </a:pPr>
            <a:r>
              <a:rPr lang="en-US" sz="1350" dirty="0">
                <a:solidFill>
                  <a:srgbClr val="1E2E3A"/>
                </a:solidFill>
                <a:latin typeface="Aptos" pitchFamily="34" charset="0"/>
                <a:ea typeface="Aptos" pitchFamily="34" charset="-122"/>
                <a:cs typeface="Aptos" pitchFamily="34" charset="-120"/>
              </a:rPr>
              <a:t>OLED + cloud logging</a:t>
            </a:r>
            <a:endParaRPr lang="en-US" sz="1350" dirty="0"/>
          </a:p>
        </p:txBody>
      </p:sp>
      <p:sp>
        <p:nvSpPr>
          <p:cNvPr id="22" name="Shape 20"/>
          <p:cNvSpPr/>
          <p:nvPr/>
        </p:nvSpPr>
        <p:spPr>
          <a:xfrm>
            <a:off x="777240" y="3703320"/>
            <a:ext cx="5212080" cy="1691640"/>
          </a:xfrm>
          <a:prstGeom prst="roundRect">
            <a:avLst>
              <a:gd name="adj" fmla="val 6486"/>
            </a:avLst>
          </a:prstGeom>
          <a:solidFill>
            <a:srgbClr val="EFF7FA"/>
          </a:solidFill>
          <a:ln w="12700">
            <a:solidFill>
              <a:srgbClr val="DDEEF4">
                <a:alpha val="90000"/>
              </a:srgbClr>
            </a:solidFill>
            <a:prstDash val="solid"/>
          </a:ln>
        </p:spPr>
      </p:sp>
      <p:sp>
        <p:nvSpPr>
          <p:cNvPr id="23" name="Text 21"/>
          <p:cNvSpPr/>
          <p:nvPr/>
        </p:nvSpPr>
        <p:spPr>
          <a:xfrm>
            <a:off x="1024128" y="3931920"/>
            <a:ext cx="2011680" cy="256032"/>
          </a:xfrm>
          <a:prstGeom prst="rect">
            <a:avLst/>
          </a:prstGeom>
          <a:noFill/>
          <a:ln/>
        </p:spPr>
        <p:txBody>
          <a:bodyPr wrap="square" lIns="508" tIns="508" rIns="508" bIns="508" rtlCol="0" anchor="t">
            <a:normAutofit/>
          </a:bodyPr>
          <a:lstStyle/>
          <a:p>
            <a:pPr algn="l" indent="0" marL="0">
              <a:buNone/>
            </a:pPr>
            <a:r>
              <a:rPr lang="en-US" sz="1800" b="1" dirty="0">
                <a:solidFill>
                  <a:srgbClr val="E74C3C"/>
                </a:solidFill>
                <a:latin typeface="Aptos" pitchFamily="34" charset="0"/>
                <a:ea typeface="Aptos" pitchFamily="34" charset="-122"/>
                <a:cs typeface="Aptos" pitchFamily="34" charset="-120"/>
              </a:rPr>
              <a:t>Current issue</a:t>
            </a:r>
            <a:endParaRPr lang="en-US" sz="1800" dirty="0"/>
          </a:p>
        </p:txBody>
      </p:sp>
      <p:sp>
        <p:nvSpPr>
          <p:cNvPr id="24" name="Text 22"/>
          <p:cNvSpPr/>
          <p:nvPr/>
        </p:nvSpPr>
        <p:spPr>
          <a:xfrm>
            <a:off x="1024128" y="4361688"/>
            <a:ext cx="4617720" cy="804672"/>
          </a:xfrm>
          <a:prstGeom prst="rect">
            <a:avLst/>
          </a:prstGeom>
          <a:noFill/>
          <a:ln/>
        </p:spPr>
        <p:txBody>
          <a:bodyPr wrap="square" lIns="508" tIns="508" rIns="508" bIns="508" rtlCol="0" anchor="ctr">
            <a:normAutofit/>
          </a:bodyPr>
          <a:lstStyle/>
          <a:p>
            <a:pPr marL="152400" indent="-152400">
              <a:buSzPct val="100000"/>
              <a:buChar char="•"/>
            </a:pPr>
            <a:r>
              <a:rPr lang="en-US" sz="1330" dirty="0">
                <a:solidFill>
                  <a:srgbClr val="1E2E3A"/>
                </a:solidFill>
              </a:rPr>
              <a:t>Analog values are unexpectedly low / unstable.</a:t>
            </a:r>
            <a:endParaRPr lang="en-US" sz="1330" dirty="0"/>
          </a:p>
          <a:p>
            <a:pPr marL="152400" indent="-152400">
              <a:buSzPct val="100000"/>
              <a:buChar char="•"/>
            </a:pPr>
            <a:r>
              <a:rPr lang="en-US" sz="1330" dirty="0">
                <a:solidFill>
                  <a:srgbClr val="1E2E3A"/>
                </a:solidFill>
              </a:rPr>
              <a:t>Possible causes: wiring, ADC pin, power level, or calibration.</a:t>
            </a:r>
            <a:endParaRPr lang="en-US" sz="1330" dirty="0"/>
          </a:p>
          <a:p>
            <a:pPr marL="152400" indent="-152400">
              <a:buSzPct val="100000"/>
              <a:buChar char="•"/>
            </a:pPr>
            <a:r>
              <a:rPr lang="en-US" sz="1330" dirty="0">
                <a:solidFill>
                  <a:srgbClr val="1E2E3A"/>
                </a:solidFill>
              </a:rPr>
              <a:t>We are isolating the sensor before adding dashboard features.</a:t>
            </a:r>
            <a:endParaRPr lang="en-US" sz="1330" dirty="0"/>
          </a:p>
        </p:txBody>
      </p:sp>
      <p:sp>
        <p:nvSpPr>
          <p:cNvPr id="25" name="Shape 23"/>
          <p:cNvSpPr/>
          <p:nvPr/>
        </p:nvSpPr>
        <p:spPr>
          <a:xfrm>
            <a:off x="6263640" y="3703320"/>
            <a:ext cx="5120640" cy="1691640"/>
          </a:xfrm>
          <a:prstGeom prst="roundRect">
            <a:avLst>
              <a:gd name="adj" fmla="val 6486"/>
            </a:avLst>
          </a:prstGeom>
          <a:solidFill>
            <a:srgbClr val="EFF7FA"/>
          </a:solidFill>
          <a:ln w="12700">
            <a:solidFill>
              <a:srgbClr val="DDEEF4">
                <a:alpha val="90000"/>
              </a:srgbClr>
            </a:solidFill>
            <a:prstDash val="solid"/>
          </a:ln>
        </p:spPr>
      </p:sp>
      <p:sp>
        <p:nvSpPr>
          <p:cNvPr id="26" name="Text 24"/>
          <p:cNvSpPr/>
          <p:nvPr/>
        </p:nvSpPr>
        <p:spPr>
          <a:xfrm>
            <a:off x="6510528" y="3931920"/>
            <a:ext cx="2011680" cy="256032"/>
          </a:xfrm>
          <a:prstGeom prst="rect">
            <a:avLst/>
          </a:prstGeom>
          <a:noFill/>
          <a:ln/>
        </p:spPr>
        <p:txBody>
          <a:bodyPr wrap="square" lIns="508" tIns="508" rIns="508" bIns="508" rtlCol="0" anchor="t">
            <a:normAutofit/>
          </a:bodyPr>
          <a:lstStyle/>
          <a:p>
            <a:pPr algn="l" indent="0" marL="0">
              <a:buNone/>
            </a:pPr>
            <a:r>
              <a:rPr lang="en-US" sz="1800" b="1" dirty="0">
                <a:solidFill>
                  <a:srgbClr val="1D75D8"/>
                </a:solidFill>
                <a:latin typeface="Aptos" pitchFamily="34" charset="0"/>
                <a:ea typeface="Aptos" pitchFamily="34" charset="-122"/>
                <a:cs typeface="Aptos" pitchFamily="34" charset="-120"/>
              </a:rPr>
              <a:t>Debugging plan</a:t>
            </a:r>
            <a:endParaRPr lang="en-US" sz="1800" dirty="0"/>
          </a:p>
        </p:txBody>
      </p:sp>
      <p:sp>
        <p:nvSpPr>
          <p:cNvPr id="27" name="Text 25"/>
          <p:cNvSpPr/>
          <p:nvPr/>
        </p:nvSpPr>
        <p:spPr>
          <a:xfrm>
            <a:off x="6510528" y="4361688"/>
            <a:ext cx="4617720" cy="804672"/>
          </a:xfrm>
          <a:prstGeom prst="rect">
            <a:avLst/>
          </a:prstGeom>
          <a:noFill/>
          <a:ln/>
        </p:spPr>
        <p:txBody>
          <a:bodyPr wrap="square" lIns="508" tIns="508" rIns="508" bIns="508" rtlCol="0" anchor="ctr">
            <a:normAutofit/>
          </a:bodyPr>
          <a:lstStyle/>
          <a:p>
            <a:pPr marL="152400" indent="-152400">
              <a:buSzPct val="100000"/>
              <a:buChar char="•"/>
            </a:pPr>
            <a:r>
              <a:rPr lang="en-US" sz="1330" dirty="0">
                <a:solidFill>
                  <a:srgbClr val="1E2E3A"/>
                </a:solidFill>
              </a:rPr>
              <a:t>Test ADC pin with GND and 3.3V.</a:t>
            </a:r>
            <a:endParaRPr lang="en-US" sz="1330" dirty="0"/>
          </a:p>
          <a:p>
            <a:pPr marL="152400" indent="-152400">
              <a:buSzPct val="100000"/>
              <a:buChar char="•"/>
            </a:pPr>
            <a:r>
              <a:rPr lang="en-US" sz="1330" dirty="0">
                <a:solidFill>
                  <a:srgbClr val="1E2E3A"/>
                </a:solidFill>
              </a:rPr>
              <a:t>Verify common ground and signal pin.</a:t>
            </a:r>
            <a:endParaRPr lang="en-US" sz="1330" dirty="0"/>
          </a:p>
          <a:p>
            <a:pPr marL="152400" indent="-152400">
              <a:buSzPct val="100000"/>
              <a:buChar char="•"/>
            </a:pPr>
            <a:r>
              <a:rPr lang="en-US" sz="1330" dirty="0">
                <a:solidFill>
                  <a:srgbClr val="1E2E3A"/>
                </a:solidFill>
              </a:rPr>
              <a:t>Compare readings in clean and cloudy water.</a:t>
            </a:r>
            <a:endParaRPr lang="en-US" sz="1330" dirty="0"/>
          </a:p>
        </p:txBody>
      </p:sp>
      <p:sp>
        <p:nvSpPr>
          <p:cNvPr id="28" name="Text 26"/>
          <p:cNvSpPr/>
          <p:nvPr/>
        </p:nvSpPr>
        <p:spPr>
          <a:xfrm>
            <a:off x="11109960" y="6446520"/>
            <a:ext cx="502920" cy="164592"/>
          </a:xfrm>
          <a:prstGeom prst="rect">
            <a:avLst/>
          </a:prstGeom>
          <a:noFill/>
          <a:ln/>
        </p:spPr>
        <p:txBody>
          <a:bodyPr wrap="square" lIns="0" tIns="0" rIns="0" bIns="0" rtlCol="0" anchor="ctr"/>
          <a:lstStyle/>
          <a:p>
            <a:pPr algn="r" indent="0" marL="0">
              <a:buNone/>
            </a:pPr>
            <a:r>
              <a:rPr lang="en-US" sz="900" b="1" dirty="0">
                <a:solidFill>
                  <a:srgbClr val="6E8391"/>
                </a:solidFill>
              </a:rPr>
              <a:t>3/5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E33"/>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00A6B4"/>
          </a:solidFill>
          <a:ln w="12700">
            <a:solidFill>
              <a:srgbClr val="333333">
                <a:alpha val="0"/>
              </a:srgbClr>
            </a:solidFill>
            <a:prstDash val="solid"/>
          </a:ln>
        </p:spPr>
      </p:sp>
      <p:sp>
        <p:nvSpPr>
          <p:cNvPr id="3" name="Shape 1"/>
          <p:cNvSpPr/>
          <p:nvPr/>
        </p:nvSpPr>
        <p:spPr>
          <a:xfrm>
            <a:off x="10149840" y="384048"/>
            <a:ext cx="1325880" cy="347472"/>
          </a:xfrm>
          <a:prstGeom prst="roundRect">
            <a:avLst>
              <a:gd name="adj" fmla="val 21053"/>
            </a:avLst>
          </a:prstGeom>
          <a:solidFill>
            <a:srgbClr val="00A6B4"/>
          </a:solidFill>
          <a:ln w="12700">
            <a:solidFill>
              <a:srgbClr val="333333">
                <a:alpha val="0"/>
              </a:srgbClr>
            </a:solidFill>
            <a:prstDash val="solid"/>
          </a:ln>
        </p:spPr>
      </p:sp>
      <p:sp>
        <p:nvSpPr>
          <p:cNvPr id="4" name="Text 2"/>
          <p:cNvSpPr/>
          <p:nvPr/>
        </p:nvSpPr>
        <p:spPr>
          <a:xfrm>
            <a:off x="10149840" y="457200"/>
            <a:ext cx="1325880" cy="164592"/>
          </a:xfrm>
          <a:prstGeom prst="rect">
            <a:avLst/>
          </a:prstGeom>
          <a:noFill/>
          <a:ln/>
        </p:spPr>
        <p:txBody>
          <a:bodyPr wrap="square" lIns="0" tIns="0" rIns="0" bIns="0" rtlCol="0" anchor="ctr"/>
          <a:lstStyle/>
          <a:p>
            <a:pPr algn="ctr" indent="0" marL="0">
              <a:buNone/>
            </a:pPr>
            <a:r>
              <a:rPr lang="en-US" sz="1000" b="1" dirty="0">
                <a:solidFill>
                  <a:srgbClr val="FFFFFF"/>
                </a:solidFill>
              </a:rPr>
              <a:t>Proof</a:t>
            </a:r>
            <a:endParaRPr lang="en-US" sz="1000" dirty="0"/>
          </a:p>
        </p:txBody>
      </p:sp>
      <p:sp>
        <p:nvSpPr>
          <p:cNvPr id="5" name="Text 3"/>
          <p:cNvSpPr/>
          <p:nvPr/>
        </p:nvSpPr>
        <p:spPr>
          <a:xfrm>
            <a:off x="594360" y="347472"/>
            <a:ext cx="8138160" cy="411480"/>
          </a:xfrm>
          <a:prstGeom prst="rect">
            <a:avLst/>
          </a:prstGeom>
          <a:noFill/>
          <a:ln/>
        </p:spPr>
        <p:txBody>
          <a:bodyPr wrap="square" lIns="0" tIns="0" rIns="0" bIns="0" rtlCol="0" anchor="ctr"/>
          <a:lstStyle/>
          <a:p>
            <a:pPr indent="0" marL="0">
              <a:buNone/>
            </a:pPr>
            <a:r>
              <a:rPr lang="en-US" sz="2600" b="1" dirty="0">
                <a:solidFill>
                  <a:srgbClr val="FFFFFF"/>
                </a:solidFill>
                <a:latin typeface="Aptos Display" pitchFamily="34" charset="0"/>
                <a:ea typeface="Aptos Display" pitchFamily="34" charset="-122"/>
                <a:cs typeface="Aptos Display" pitchFamily="34" charset="-120"/>
              </a:rPr>
              <a:t>Video Proof of Hardware Testing</a:t>
            </a:r>
            <a:endParaRPr lang="en-US" sz="2600" dirty="0"/>
          </a:p>
        </p:txBody>
      </p:sp>
      <p:sp>
        <p:nvSpPr>
          <p:cNvPr id="6" name="Text 4"/>
          <p:cNvSpPr/>
          <p:nvPr/>
        </p:nvSpPr>
        <p:spPr>
          <a:xfrm>
            <a:off x="603504" y="804672"/>
            <a:ext cx="7863840" cy="256032"/>
          </a:xfrm>
          <a:prstGeom prst="rect">
            <a:avLst/>
          </a:prstGeom>
          <a:noFill/>
          <a:ln/>
        </p:spPr>
        <p:txBody>
          <a:bodyPr wrap="square" lIns="0" tIns="0" rIns="0" bIns="0" rtlCol="0" anchor="ctr"/>
          <a:lstStyle/>
          <a:p>
            <a:pPr indent="0" marL="0">
              <a:buNone/>
            </a:pPr>
            <a:r>
              <a:rPr lang="en-US" sz="1150" dirty="0">
                <a:solidFill>
                  <a:srgbClr val="5EE1F0"/>
                </a:solidFill>
              </a:rPr>
              <a:t>The team has started real sensor testing, not only research.</a:t>
            </a:r>
            <a:endParaRPr lang="en-US" sz="1150" dirty="0"/>
          </a:p>
        </p:txBody>
      </p:sp>
      <p:sp>
        <p:nvSpPr>
          <p:cNvPr id="7" name="Shape 5"/>
          <p:cNvSpPr/>
          <p:nvPr/>
        </p:nvSpPr>
        <p:spPr>
          <a:xfrm>
            <a:off x="685800" y="1371600"/>
            <a:ext cx="6583680" cy="4160520"/>
          </a:xfrm>
          <a:prstGeom prst="roundRect">
            <a:avLst>
              <a:gd name="adj" fmla="val 2637"/>
            </a:avLst>
          </a:prstGeom>
          <a:solidFill>
            <a:srgbClr val="12324D"/>
          </a:solidFill>
          <a:ln w="12700">
            <a:solidFill>
              <a:srgbClr val="333333">
                <a:alpha val="0"/>
              </a:srgbClr>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804672" y="1490472"/>
            <a:ext cx="6355080" cy="3886200"/>
          </a:xfrm>
          <a:prstGeom prst="rect">
            <a:avLst/>
          </a:prstGeom>
        </p:spPr>
      </p:pic>
      <p:sp>
        <p:nvSpPr>
          <p:cNvPr id="9" name="Shape 6"/>
          <p:cNvSpPr/>
          <p:nvPr/>
        </p:nvSpPr>
        <p:spPr>
          <a:xfrm>
            <a:off x="7543800" y="1371600"/>
            <a:ext cx="3886200" cy="4160520"/>
          </a:xfrm>
          <a:prstGeom prst="roundRect">
            <a:avLst>
              <a:gd name="adj" fmla="val 2824"/>
            </a:avLst>
          </a:prstGeom>
          <a:solidFill>
            <a:srgbClr val="FFFFFF"/>
          </a:solidFill>
          <a:ln w="12700">
            <a:solidFill>
              <a:srgbClr val="333333">
                <a:alpha val="0"/>
              </a:srgbClr>
            </a:solidFill>
            <a:prstDash val="solid"/>
          </a:ln>
        </p:spPr>
      </p:sp>
      <p:sp>
        <p:nvSpPr>
          <p:cNvPr id="10" name="Text 7"/>
          <p:cNvSpPr/>
          <p:nvPr/>
        </p:nvSpPr>
        <p:spPr>
          <a:xfrm>
            <a:off x="7818120" y="1673352"/>
            <a:ext cx="2011680" cy="256032"/>
          </a:xfrm>
          <a:prstGeom prst="rect">
            <a:avLst/>
          </a:prstGeom>
          <a:noFill/>
          <a:ln/>
        </p:spPr>
        <p:txBody>
          <a:bodyPr wrap="square" lIns="508" tIns="508" rIns="508" bIns="508" rtlCol="0" anchor="t">
            <a:normAutofit/>
          </a:bodyPr>
          <a:lstStyle/>
          <a:p>
            <a:pPr algn="l" indent="0" marL="0">
              <a:buNone/>
            </a:pPr>
            <a:r>
              <a:rPr lang="en-US" sz="2000" b="1" dirty="0">
                <a:solidFill>
                  <a:srgbClr val="1D75D8"/>
                </a:solidFill>
                <a:latin typeface="Aptos" pitchFamily="34" charset="0"/>
                <a:ea typeface="Aptos" pitchFamily="34" charset="-122"/>
                <a:cs typeface="Aptos" pitchFamily="34" charset="-120"/>
              </a:rPr>
              <a:t>Observation</a:t>
            </a:r>
            <a:endParaRPr lang="en-US" sz="2000" dirty="0"/>
          </a:p>
        </p:txBody>
      </p:sp>
      <p:sp>
        <p:nvSpPr>
          <p:cNvPr id="11" name="Text 8"/>
          <p:cNvSpPr/>
          <p:nvPr/>
        </p:nvSpPr>
        <p:spPr>
          <a:xfrm>
            <a:off x="7818120" y="2148840"/>
            <a:ext cx="3200400" cy="2377440"/>
          </a:xfrm>
          <a:prstGeom prst="rect">
            <a:avLst/>
          </a:prstGeom>
          <a:noFill/>
          <a:ln/>
        </p:spPr>
        <p:txBody>
          <a:bodyPr wrap="square" lIns="508" tIns="508" rIns="508" bIns="508" rtlCol="0" anchor="ctr">
            <a:normAutofit/>
          </a:bodyPr>
          <a:lstStyle/>
          <a:p>
            <a:pPr marL="152400" indent="-152400">
              <a:buSzPct val="100000"/>
              <a:buChar char="•"/>
            </a:pPr>
            <a:r>
              <a:rPr lang="en-US" sz="1520" dirty="0">
                <a:solidFill>
                  <a:srgbClr val="1E2E3A"/>
                </a:solidFill>
              </a:rPr>
              <a:t>Sensor wiring is already being tested.</a:t>
            </a:r>
            <a:endParaRPr lang="en-US" sz="1520" dirty="0"/>
          </a:p>
          <a:p>
            <a:pPr marL="152400" indent="-152400">
              <a:buSzPct val="100000"/>
              <a:buChar char="•"/>
            </a:pPr>
            <a:r>
              <a:rPr lang="en-US" sz="1520" dirty="0">
                <a:solidFill>
                  <a:srgbClr val="1E2E3A"/>
                </a:solidFill>
              </a:rPr>
              <a:t>Serial Monitor shows changing analog readings.</a:t>
            </a:r>
            <a:endParaRPr lang="en-US" sz="1520" dirty="0"/>
          </a:p>
          <a:p>
            <a:pPr marL="152400" indent="-152400">
              <a:buSzPct val="100000"/>
              <a:buChar char="•"/>
            </a:pPr>
            <a:r>
              <a:rPr lang="en-US" sz="1520" dirty="0">
                <a:solidFill>
                  <a:srgbClr val="1E2E3A"/>
                </a:solidFill>
              </a:rPr>
              <a:t>The reading is still not calibrated enough for final results.</a:t>
            </a:r>
            <a:endParaRPr lang="en-US" sz="1520" dirty="0"/>
          </a:p>
          <a:p>
            <a:pPr marL="152400" indent="-152400">
              <a:buSzPct val="100000"/>
              <a:buChar char="•"/>
            </a:pPr>
            <a:r>
              <a:rPr lang="en-US" sz="1520" dirty="0">
                <a:solidFill>
                  <a:srgbClr val="1E2E3A"/>
                </a:solidFill>
              </a:rPr>
              <a:t>This is the current integration problem we are fixing.</a:t>
            </a:r>
            <a:endParaRPr lang="en-US" sz="1520" dirty="0"/>
          </a:p>
        </p:txBody>
      </p:sp>
      <p:sp>
        <p:nvSpPr>
          <p:cNvPr id="12" name="Text 9"/>
          <p:cNvSpPr/>
          <p:nvPr/>
        </p:nvSpPr>
        <p:spPr>
          <a:xfrm>
            <a:off x="7818120" y="4992624"/>
            <a:ext cx="3154680" cy="219456"/>
          </a:xfrm>
          <a:prstGeom prst="rect">
            <a:avLst/>
          </a:prstGeom>
          <a:noFill/>
          <a:ln/>
        </p:spPr>
        <p:txBody>
          <a:bodyPr wrap="square" lIns="508" tIns="508" rIns="508" bIns="508" rtlCol="0" anchor="t">
            <a:normAutofit/>
          </a:bodyPr>
          <a:lstStyle/>
          <a:p>
            <a:pPr algn="l" indent="0" marL="0">
              <a:buNone/>
            </a:pPr>
            <a:r>
              <a:rPr lang="en-US" sz="1050" dirty="0">
                <a:solidFill>
                  <a:srgbClr val="6E8391"/>
                </a:solidFill>
                <a:latin typeface="Aptos" pitchFamily="34" charset="0"/>
                <a:ea typeface="Aptos" pitchFamily="34" charset="-122"/>
                <a:cs typeface="Aptos" pitchFamily="34" charset="-120"/>
              </a:rPr>
              <a:t>Note: embedded video included as project evidence.</a:t>
            </a:r>
            <a:endParaRPr lang="en-US" sz="1050" dirty="0"/>
          </a:p>
        </p:txBody>
      </p:sp>
      <p:sp>
        <p:nvSpPr>
          <p:cNvPr id="13" name="Text 10"/>
          <p:cNvSpPr/>
          <p:nvPr/>
        </p:nvSpPr>
        <p:spPr>
          <a:xfrm>
            <a:off x="11109960" y="6446520"/>
            <a:ext cx="502920" cy="164592"/>
          </a:xfrm>
          <a:prstGeom prst="rect">
            <a:avLst/>
          </a:prstGeom>
          <a:noFill/>
          <a:ln/>
        </p:spPr>
        <p:txBody>
          <a:bodyPr wrap="square" lIns="0" tIns="0" rIns="0" bIns="0" rtlCol="0" anchor="ctr"/>
          <a:lstStyle/>
          <a:p>
            <a:pPr algn="r" indent="0" marL="0">
              <a:buNone/>
            </a:pPr>
            <a:r>
              <a:rPr lang="en-US" sz="900" b="1" dirty="0">
                <a:solidFill>
                  <a:srgbClr val="5EE1F0"/>
                </a:solidFill>
              </a:rPr>
              <a:t>4/5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7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D75D8"/>
          </a:solidFill>
          <a:ln w="12700">
            <a:solidFill>
              <a:srgbClr val="333333">
                <a:alpha val="0"/>
              </a:srgbClr>
            </a:solidFill>
            <a:prstDash val="solid"/>
          </a:ln>
        </p:spPr>
      </p:sp>
      <p:sp>
        <p:nvSpPr>
          <p:cNvPr id="3" name="Shape 1"/>
          <p:cNvSpPr/>
          <p:nvPr/>
        </p:nvSpPr>
        <p:spPr>
          <a:xfrm>
            <a:off x="10012680" y="384048"/>
            <a:ext cx="1325880" cy="347472"/>
          </a:xfrm>
          <a:prstGeom prst="roundRect">
            <a:avLst>
              <a:gd name="adj" fmla="val 21053"/>
            </a:avLst>
          </a:prstGeom>
          <a:solidFill>
            <a:srgbClr val="1D75D8"/>
          </a:solidFill>
          <a:ln w="12700">
            <a:solidFill>
              <a:srgbClr val="333333">
                <a:alpha val="0"/>
              </a:srgbClr>
            </a:solidFill>
            <a:prstDash val="solid"/>
          </a:ln>
        </p:spPr>
      </p:sp>
      <p:sp>
        <p:nvSpPr>
          <p:cNvPr id="4" name="Text 2"/>
          <p:cNvSpPr/>
          <p:nvPr/>
        </p:nvSpPr>
        <p:spPr>
          <a:xfrm>
            <a:off x="10012680" y="457200"/>
            <a:ext cx="1325880" cy="164592"/>
          </a:xfrm>
          <a:prstGeom prst="rect">
            <a:avLst/>
          </a:prstGeom>
          <a:noFill/>
          <a:ln/>
        </p:spPr>
        <p:txBody>
          <a:bodyPr wrap="square" lIns="0" tIns="0" rIns="0" bIns="0" rtlCol="0" anchor="ctr"/>
          <a:lstStyle/>
          <a:p>
            <a:pPr algn="ctr" indent="0" marL="0">
              <a:buNone/>
            </a:pPr>
            <a:r>
              <a:rPr lang="en-US" sz="1000" b="1" dirty="0">
                <a:solidFill>
                  <a:srgbClr val="FFFFFF"/>
                </a:solidFill>
              </a:rPr>
              <a:t>Next Sprint</a:t>
            </a:r>
            <a:endParaRPr lang="en-US" sz="1000" dirty="0"/>
          </a:p>
        </p:txBody>
      </p:sp>
      <p:sp>
        <p:nvSpPr>
          <p:cNvPr id="5" name="Text 3"/>
          <p:cNvSpPr/>
          <p:nvPr/>
        </p:nvSpPr>
        <p:spPr>
          <a:xfrm>
            <a:off x="594360" y="347472"/>
            <a:ext cx="8138160" cy="411480"/>
          </a:xfrm>
          <a:prstGeom prst="rect">
            <a:avLst/>
          </a:prstGeom>
          <a:noFill/>
          <a:ln/>
        </p:spPr>
        <p:txBody>
          <a:bodyPr wrap="square" lIns="0" tIns="0" rIns="0" bIns="0" rtlCol="0" anchor="ctr"/>
          <a:lstStyle/>
          <a:p>
            <a:pPr indent="0" marL="0">
              <a:buNone/>
            </a:pPr>
            <a:r>
              <a:rPr lang="en-US" sz="2600" b="1" dirty="0">
                <a:solidFill>
                  <a:srgbClr val="1E2E3A"/>
                </a:solidFill>
                <a:latin typeface="Aptos Display" pitchFamily="34" charset="0"/>
                <a:ea typeface="Aptos Display" pitchFamily="34" charset="-122"/>
                <a:cs typeface="Aptos Display" pitchFamily="34" charset="-120"/>
              </a:rPr>
              <a:t>Next Steps and Expected Outcome</a:t>
            </a:r>
            <a:endParaRPr lang="en-US" sz="2600" dirty="0"/>
          </a:p>
        </p:txBody>
      </p:sp>
      <p:sp>
        <p:nvSpPr>
          <p:cNvPr id="6" name="Text 4"/>
          <p:cNvSpPr/>
          <p:nvPr/>
        </p:nvSpPr>
        <p:spPr>
          <a:xfrm>
            <a:off x="603504" y="804672"/>
            <a:ext cx="7863840" cy="256032"/>
          </a:xfrm>
          <a:prstGeom prst="rect">
            <a:avLst/>
          </a:prstGeom>
          <a:noFill/>
          <a:ln/>
        </p:spPr>
        <p:txBody>
          <a:bodyPr wrap="square" lIns="0" tIns="0" rIns="0" bIns="0" rtlCol="0" anchor="ctr"/>
          <a:lstStyle/>
          <a:p>
            <a:pPr indent="0" marL="0">
              <a:buNone/>
            </a:pPr>
            <a:r>
              <a:rPr lang="en-US" sz="1150" dirty="0">
                <a:solidFill>
                  <a:srgbClr val="6E8391"/>
                </a:solidFill>
              </a:rPr>
              <a:t>Finish sensor debugging, then build the data pipeline.</a:t>
            </a:r>
            <a:endParaRPr lang="en-US" sz="1150" dirty="0"/>
          </a:p>
        </p:txBody>
      </p:sp>
      <p:sp>
        <p:nvSpPr>
          <p:cNvPr id="7" name="Shape 5"/>
          <p:cNvSpPr/>
          <p:nvPr/>
        </p:nvSpPr>
        <p:spPr>
          <a:xfrm>
            <a:off x="777240" y="1508760"/>
            <a:ext cx="438912" cy="438912"/>
          </a:xfrm>
          <a:prstGeom prst="ellipse">
            <a:avLst/>
          </a:prstGeom>
          <a:solidFill>
            <a:srgbClr val="F4A261"/>
          </a:solidFill>
          <a:ln w="12700">
            <a:solidFill>
              <a:srgbClr val="333333">
                <a:alpha val="0"/>
              </a:srgbClr>
            </a:solidFill>
            <a:prstDash val="solid"/>
          </a:ln>
        </p:spPr>
      </p:sp>
      <p:sp>
        <p:nvSpPr>
          <p:cNvPr id="8" name="Text 6"/>
          <p:cNvSpPr/>
          <p:nvPr/>
        </p:nvSpPr>
        <p:spPr>
          <a:xfrm>
            <a:off x="914400" y="1636776"/>
            <a:ext cx="164592" cy="109728"/>
          </a:xfrm>
          <a:prstGeom prst="rect">
            <a:avLst/>
          </a:prstGeom>
          <a:noFill/>
          <a:ln/>
        </p:spPr>
        <p:txBody>
          <a:bodyPr wrap="square" lIns="508" tIns="508" rIns="508" bIns="508" rtlCol="0" anchor="t">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Shape 7"/>
          <p:cNvSpPr/>
          <p:nvPr/>
        </p:nvSpPr>
        <p:spPr>
          <a:xfrm>
            <a:off x="1417320" y="1417320"/>
            <a:ext cx="9829800" cy="685800"/>
          </a:xfrm>
          <a:prstGeom prst="roundRect">
            <a:avLst>
              <a:gd name="adj" fmla="val 16000"/>
            </a:avLst>
          </a:prstGeom>
          <a:solidFill>
            <a:srgbClr val="FFFFFF"/>
          </a:solidFill>
          <a:ln w="12700">
            <a:solidFill>
              <a:srgbClr val="DDEEF4">
                <a:alpha val="90000"/>
              </a:srgbClr>
            </a:solidFill>
            <a:prstDash val="solid"/>
          </a:ln>
        </p:spPr>
      </p:sp>
      <p:sp>
        <p:nvSpPr>
          <p:cNvPr id="10" name="Text 8"/>
          <p:cNvSpPr/>
          <p:nvPr/>
        </p:nvSpPr>
        <p:spPr>
          <a:xfrm>
            <a:off x="1682496" y="1572768"/>
            <a:ext cx="1828800" cy="219456"/>
          </a:xfrm>
          <a:prstGeom prst="rect">
            <a:avLst/>
          </a:prstGeom>
          <a:noFill/>
          <a:ln/>
        </p:spPr>
        <p:txBody>
          <a:bodyPr wrap="square" lIns="508" tIns="508" rIns="508" bIns="508" rtlCol="0" anchor="t">
            <a:normAutofit/>
          </a:bodyPr>
          <a:lstStyle/>
          <a:p>
            <a:pPr algn="l" indent="0" marL="0">
              <a:buNone/>
            </a:pPr>
            <a:r>
              <a:rPr lang="en-US" sz="1550" b="1" dirty="0">
                <a:solidFill>
                  <a:srgbClr val="1D75D8"/>
                </a:solidFill>
                <a:latin typeface="Aptos" pitchFamily="34" charset="0"/>
                <a:ea typeface="Aptos" pitchFamily="34" charset="-122"/>
                <a:cs typeface="Aptos" pitchFamily="34" charset="-120"/>
              </a:rPr>
              <a:t>Fix raw readings</a:t>
            </a:r>
            <a:endParaRPr lang="en-US" sz="1550" dirty="0"/>
          </a:p>
        </p:txBody>
      </p:sp>
      <p:sp>
        <p:nvSpPr>
          <p:cNvPr id="11" name="Text 9"/>
          <p:cNvSpPr/>
          <p:nvPr/>
        </p:nvSpPr>
        <p:spPr>
          <a:xfrm>
            <a:off x="3913632" y="1581912"/>
            <a:ext cx="6766560" cy="201168"/>
          </a:xfrm>
          <a:prstGeom prst="rect">
            <a:avLst/>
          </a:prstGeom>
          <a:noFill/>
          <a:ln/>
        </p:spPr>
        <p:txBody>
          <a:bodyPr wrap="square" lIns="508" tIns="508" rIns="508" bIns="508" rtlCol="0" anchor="t">
            <a:normAutofit/>
          </a:bodyPr>
          <a:lstStyle/>
          <a:p>
            <a:pPr algn="l" indent="0" marL="0">
              <a:buNone/>
            </a:pPr>
            <a:r>
              <a:rPr lang="en-US" sz="1380" dirty="0">
                <a:solidFill>
                  <a:srgbClr val="1E2E3A"/>
                </a:solidFill>
                <a:latin typeface="Aptos" pitchFamily="34" charset="0"/>
                <a:ea typeface="Aptos" pitchFamily="34" charset="-122"/>
                <a:cs typeface="Aptos" pitchFamily="34" charset="-120"/>
              </a:rPr>
              <a:t>Confirm ADC pin, power, GND, and signal wiring.</a:t>
            </a:r>
            <a:endParaRPr lang="en-US" sz="1380" dirty="0"/>
          </a:p>
        </p:txBody>
      </p:sp>
      <p:sp>
        <p:nvSpPr>
          <p:cNvPr id="12" name="Shape 10"/>
          <p:cNvSpPr/>
          <p:nvPr/>
        </p:nvSpPr>
        <p:spPr>
          <a:xfrm>
            <a:off x="777240" y="2496312"/>
            <a:ext cx="438912" cy="438912"/>
          </a:xfrm>
          <a:prstGeom prst="ellipse">
            <a:avLst/>
          </a:prstGeom>
          <a:solidFill>
            <a:srgbClr val="F4A261"/>
          </a:solidFill>
          <a:ln w="12700">
            <a:solidFill>
              <a:srgbClr val="333333">
                <a:alpha val="0"/>
              </a:srgbClr>
            </a:solidFill>
            <a:prstDash val="solid"/>
          </a:ln>
        </p:spPr>
      </p:sp>
      <p:sp>
        <p:nvSpPr>
          <p:cNvPr id="13" name="Text 11"/>
          <p:cNvSpPr/>
          <p:nvPr/>
        </p:nvSpPr>
        <p:spPr>
          <a:xfrm>
            <a:off x="914400" y="2624328"/>
            <a:ext cx="164592" cy="109728"/>
          </a:xfrm>
          <a:prstGeom prst="rect">
            <a:avLst/>
          </a:prstGeom>
          <a:noFill/>
          <a:ln/>
        </p:spPr>
        <p:txBody>
          <a:bodyPr wrap="square" lIns="508" tIns="508" rIns="508" bIns="508" rtlCol="0" anchor="t">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4" name="Shape 12"/>
          <p:cNvSpPr/>
          <p:nvPr/>
        </p:nvSpPr>
        <p:spPr>
          <a:xfrm>
            <a:off x="1417320" y="2404872"/>
            <a:ext cx="9829800" cy="685800"/>
          </a:xfrm>
          <a:prstGeom prst="roundRect">
            <a:avLst>
              <a:gd name="adj" fmla="val 16000"/>
            </a:avLst>
          </a:prstGeom>
          <a:solidFill>
            <a:srgbClr val="FFFFFF"/>
          </a:solidFill>
          <a:ln w="12700">
            <a:solidFill>
              <a:srgbClr val="DDEEF4">
                <a:alpha val="90000"/>
              </a:srgbClr>
            </a:solidFill>
            <a:prstDash val="solid"/>
          </a:ln>
        </p:spPr>
      </p:sp>
      <p:sp>
        <p:nvSpPr>
          <p:cNvPr id="15" name="Text 13"/>
          <p:cNvSpPr/>
          <p:nvPr/>
        </p:nvSpPr>
        <p:spPr>
          <a:xfrm>
            <a:off x="1682496" y="2560320"/>
            <a:ext cx="1828800" cy="219456"/>
          </a:xfrm>
          <a:prstGeom prst="rect">
            <a:avLst/>
          </a:prstGeom>
          <a:noFill/>
          <a:ln/>
        </p:spPr>
        <p:txBody>
          <a:bodyPr wrap="square" lIns="508" tIns="508" rIns="508" bIns="508" rtlCol="0" anchor="t">
            <a:normAutofit/>
          </a:bodyPr>
          <a:lstStyle/>
          <a:p>
            <a:pPr algn="l" indent="0" marL="0">
              <a:buNone/>
            </a:pPr>
            <a:r>
              <a:rPr lang="en-US" sz="1550" b="1" dirty="0">
                <a:solidFill>
                  <a:srgbClr val="1D75D8"/>
                </a:solidFill>
                <a:latin typeface="Aptos" pitchFamily="34" charset="0"/>
                <a:ea typeface="Aptos" pitchFamily="34" charset="-122"/>
                <a:cs typeface="Aptos" pitchFamily="34" charset="-120"/>
              </a:rPr>
              <a:t>Create thresholds</a:t>
            </a:r>
            <a:endParaRPr lang="en-US" sz="1550" dirty="0"/>
          </a:p>
        </p:txBody>
      </p:sp>
      <p:sp>
        <p:nvSpPr>
          <p:cNvPr id="16" name="Text 14"/>
          <p:cNvSpPr/>
          <p:nvPr/>
        </p:nvSpPr>
        <p:spPr>
          <a:xfrm>
            <a:off x="3913632" y="2569464"/>
            <a:ext cx="6766560" cy="201168"/>
          </a:xfrm>
          <a:prstGeom prst="rect">
            <a:avLst/>
          </a:prstGeom>
          <a:noFill/>
          <a:ln/>
        </p:spPr>
        <p:txBody>
          <a:bodyPr wrap="square" lIns="508" tIns="508" rIns="508" bIns="508" rtlCol="0" anchor="t">
            <a:normAutofit/>
          </a:bodyPr>
          <a:lstStyle/>
          <a:p>
            <a:pPr algn="l" indent="0" marL="0">
              <a:buNone/>
            </a:pPr>
            <a:r>
              <a:rPr lang="en-US" sz="1380" dirty="0">
                <a:solidFill>
                  <a:srgbClr val="1E2E3A"/>
                </a:solidFill>
                <a:latin typeface="Aptos" pitchFamily="34" charset="0"/>
                <a:ea typeface="Aptos" pitchFamily="34" charset="-122"/>
                <a:cs typeface="Aptos" pitchFamily="34" charset="-120"/>
              </a:rPr>
              <a:t>Test clear, medium, and cloudy water samples.</a:t>
            </a:r>
            <a:endParaRPr lang="en-US" sz="1380" dirty="0"/>
          </a:p>
        </p:txBody>
      </p:sp>
      <p:sp>
        <p:nvSpPr>
          <p:cNvPr id="17" name="Shape 15"/>
          <p:cNvSpPr/>
          <p:nvPr/>
        </p:nvSpPr>
        <p:spPr>
          <a:xfrm>
            <a:off x="777240" y="3483864"/>
            <a:ext cx="438912" cy="438912"/>
          </a:xfrm>
          <a:prstGeom prst="ellipse">
            <a:avLst/>
          </a:prstGeom>
          <a:solidFill>
            <a:srgbClr val="00A6B4"/>
          </a:solidFill>
          <a:ln w="12700">
            <a:solidFill>
              <a:srgbClr val="333333">
                <a:alpha val="0"/>
              </a:srgbClr>
            </a:solidFill>
            <a:prstDash val="solid"/>
          </a:ln>
        </p:spPr>
      </p:sp>
      <p:sp>
        <p:nvSpPr>
          <p:cNvPr id="18" name="Text 16"/>
          <p:cNvSpPr/>
          <p:nvPr/>
        </p:nvSpPr>
        <p:spPr>
          <a:xfrm>
            <a:off x="914400" y="3611880"/>
            <a:ext cx="164592" cy="109728"/>
          </a:xfrm>
          <a:prstGeom prst="rect">
            <a:avLst/>
          </a:prstGeom>
          <a:noFill/>
          <a:ln/>
        </p:spPr>
        <p:txBody>
          <a:bodyPr wrap="square" lIns="508" tIns="508" rIns="508" bIns="508" rtlCol="0" anchor="t">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9" name="Shape 17"/>
          <p:cNvSpPr/>
          <p:nvPr/>
        </p:nvSpPr>
        <p:spPr>
          <a:xfrm>
            <a:off x="1417320" y="3392424"/>
            <a:ext cx="9829800" cy="685800"/>
          </a:xfrm>
          <a:prstGeom prst="roundRect">
            <a:avLst>
              <a:gd name="adj" fmla="val 16000"/>
            </a:avLst>
          </a:prstGeom>
          <a:solidFill>
            <a:srgbClr val="FFFFFF"/>
          </a:solidFill>
          <a:ln w="12700">
            <a:solidFill>
              <a:srgbClr val="DDEEF4">
                <a:alpha val="90000"/>
              </a:srgbClr>
            </a:solidFill>
            <a:prstDash val="solid"/>
          </a:ln>
        </p:spPr>
      </p:sp>
      <p:sp>
        <p:nvSpPr>
          <p:cNvPr id="20" name="Text 18"/>
          <p:cNvSpPr/>
          <p:nvPr/>
        </p:nvSpPr>
        <p:spPr>
          <a:xfrm>
            <a:off x="1682496" y="3547872"/>
            <a:ext cx="1828800" cy="219456"/>
          </a:xfrm>
          <a:prstGeom prst="rect">
            <a:avLst/>
          </a:prstGeom>
          <a:noFill/>
          <a:ln/>
        </p:spPr>
        <p:txBody>
          <a:bodyPr wrap="square" lIns="508" tIns="508" rIns="508" bIns="508" rtlCol="0" anchor="t">
            <a:normAutofit/>
          </a:bodyPr>
          <a:lstStyle/>
          <a:p>
            <a:pPr algn="l" indent="0" marL="0">
              <a:buNone/>
            </a:pPr>
            <a:r>
              <a:rPr lang="en-US" sz="1550" b="1" dirty="0">
                <a:solidFill>
                  <a:srgbClr val="1D75D8"/>
                </a:solidFill>
                <a:latin typeface="Aptos" pitchFamily="34" charset="0"/>
                <a:ea typeface="Aptos" pitchFamily="34" charset="-122"/>
                <a:cs typeface="Aptos" pitchFamily="34" charset="-120"/>
              </a:rPr>
              <a:t>Display status</a:t>
            </a:r>
            <a:endParaRPr lang="en-US" sz="1550" dirty="0"/>
          </a:p>
        </p:txBody>
      </p:sp>
      <p:sp>
        <p:nvSpPr>
          <p:cNvPr id="21" name="Text 19"/>
          <p:cNvSpPr/>
          <p:nvPr/>
        </p:nvSpPr>
        <p:spPr>
          <a:xfrm>
            <a:off x="3913632" y="3557016"/>
            <a:ext cx="6766560" cy="201168"/>
          </a:xfrm>
          <a:prstGeom prst="rect">
            <a:avLst/>
          </a:prstGeom>
          <a:noFill/>
          <a:ln/>
        </p:spPr>
        <p:txBody>
          <a:bodyPr wrap="square" lIns="508" tIns="508" rIns="508" bIns="508" rtlCol="0" anchor="t">
            <a:normAutofit/>
          </a:bodyPr>
          <a:lstStyle/>
          <a:p>
            <a:pPr algn="l" indent="0" marL="0">
              <a:buNone/>
            </a:pPr>
            <a:r>
              <a:rPr lang="en-US" sz="1380" dirty="0">
                <a:solidFill>
                  <a:srgbClr val="1E2E3A"/>
                </a:solidFill>
                <a:latin typeface="Aptos" pitchFamily="34" charset="0"/>
                <a:ea typeface="Aptos" pitchFamily="34" charset="-122"/>
                <a:cs typeface="Aptos" pitchFamily="34" charset="-120"/>
              </a:rPr>
              <a:t>Show CLEAR / CLOUDY / TURBID on OLED.</a:t>
            </a:r>
            <a:endParaRPr lang="en-US" sz="1380" dirty="0"/>
          </a:p>
        </p:txBody>
      </p:sp>
      <p:sp>
        <p:nvSpPr>
          <p:cNvPr id="22" name="Shape 20"/>
          <p:cNvSpPr/>
          <p:nvPr/>
        </p:nvSpPr>
        <p:spPr>
          <a:xfrm>
            <a:off x="777240" y="4471416"/>
            <a:ext cx="438912" cy="438912"/>
          </a:xfrm>
          <a:prstGeom prst="ellipse">
            <a:avLst/>
          </a:prstGeom>
          <a:solidFill>
            <a:srgbClr val="00A6B4"/>
          </a:solidFill>
          <a:ln w="12700">
            <a:solidFill>
              <a:srgbClr val="333333">
                <a:alpha val="0"/>
              </a:srgbClr>
            </a:solidFill>
            <a:prstDash val="solid"/>
          </a:ln>
        </p:spPr>
      </p:sp>
      <p:sp>
        <p:nvSpPr>
          <p:cNvPr id="23" name="Text 21"/>
          <p:cNvSpPr/>
          <p:nvPr/>
        </p:nvSpPr>
        <p:spPr>
          <a:xfrm>
            <a:off x="914400" y="4599432"/>
            <a:ext cx="164592" cy="109728"/>
          </a:xfrm>
          <a:prstGeom prst="rect">
            <a:avLst/>
          </a:prstGeom>
          <a:noFill/>
          <a:ln/>
        </p:spPr>
        <p:txBody>
          <a:bodyPr wrap="square" lIns="508" tIns="508" rIns="508" bIns="508" rtlCol="0" anchor="t">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4" name="Shape 22"/>
          <p:cNvSpPr/>
          <p:nvPr/>
        </p:nvSpPr>
        <p:spPr>
          <a:xfrm>
            <a:off x="1417320" y="4379976"/>
            <a:ext cx="9829800" cy="685800"/>
          </a:xfrm>
          <a:prstGeom prst="roundRect">
            <a:avLst>
              <a:gd name="adj" fmla="val 16000"/>
            </a:avLst>
          </a:prstGeom>
          <a:solidFill>
            <a:srgbClr val="FFFFFF"/>
          </a:solidFill>
          <a:ln w="12700">
            <a:solidFill>
              <a:srgbClr val="DDEEF4">
                <a:alpha val="90000"/>
              </a:srgbClr>
            </a:solidFill>
            <a:prstDash val="solid"/>
          </a:ln>
        </p:spPr>
      </p:sp>
      <p:sp>
        <p:nvSpPr>
          <p:cNvPr id="25" name="Text 23"/>
          <p:cNvSpPr/>
          <p:nvPr/>
        </p:nvSpPr>
        <p:spPr>
          <a:xfrm>
            <a:off x="1682496" y="4535424"/>
            <a:ext cx="1828800" cy="219456"/>
          </a:xfrm>
          <a:prstGeom prst="rect">
            <a:avLst/>
          </a:prstGeom>
          <a:noFill/>
          <a:ln/>
        </p:spPr>
        <p:txBody>
          <a:bodyPr wrap="square" lIns="508" tIns="508" rIns="508" bIns="508" rtlCol="0" anchor="t">
            <a:normAutofit/>
          </a:bodyPr>
          <a:lstStyle/>
          <a:p>
            <a:pPr algn="l" indent="0" marL="0">
              <a:buNone/>
            </a:pPr>
            <a:r>
              <a:rPr lang="en-US" sz="1550" b="1" dirty="0">
                <a:solidFill>
                  <a:srgbClr val="1D75D8"/>
                </a:solidFill>
                <a:latin typeface="Aptos" pitchFamily="34" charset="0"/>
                <a:ea typeface="Aptos" pitchFamily="34" charset="-122"/>
                <a:cs typeface="Aptos" pitchFamily="34" charset="-120"/>
              </a:rPr>
              <a:t>Log data</a:t>
            </a:r>
            <a:endParaRPr lang="en-US" sz="1550" dirty="0"/>
          </a:p>
        </p:txBody>
      </p:sp>
      <p:sp>
        <p:nvSpPr>
          <p:cNvPr id="26" name="Text 24"/>
          <p:cNvSpPr/>
          <p:nvPr/>
        </p:nvSpPr>
        <p:spPr>
          <a:xfrm>
            <a:off x="3913632" y="4544568"/>
            <a:ext cx="6766560" cy="201168"/>
          </a:xfrm>
          <a:prstGeom prst="rect">
            <a:avLst/>
          </a:prstGeom>
          <a:noFill/>
          <a:ln/>
        </p:spPr>
        <p:txBody>
          <a:bodyPr wrap="square" lIns="508" tIns="508" rIns="508" bIns="508" rtlCol="0" anchor="t">
            <a:normAutofit/>
          </a:bodyPr>
          <a:lstStyle/>
          <a:p>
            <a:pPr algn="l" indent="0" marL="0">
              <a:buNone/>
            </a:pPr>
            <a:r>
              <a:rPr lang="en-US" sz="1380" dirty="0">
                <a:solidFill>
                  <a:srgbClr val="1E2E3A"/>
                </a:solidFill>
                <a:latin typeface="Aptos" pitchFamily="34" charset="0"/>
                <a:ea typeface="Aptos" pitchFamily="34" charset="-122"/>
                <a:cs typeface="Aptos" pitchFamily="34" charset="-120"/>
              </a:rPr>
              <a:t>Push readings to GitHub codebase and cloud dashboard later.</a:t>
            </a:r>
            <a:endParaRPr lang="en-US" sz="1380" dirty="0"/>
          </a:p>
        </p:txBody>
      </p:sp>
      <p:sp>
        <p:nvSpPr>
          <p:cNvPr id="27" name="Shape 25"/>
          <p:cNvSpPr/>
          <p:nvPr/>
        </p:nvSpPr>
        <p:spPr>
          <a:xfrm>
            <a:off x="777240" y="5596128"/>
            <a:ext cx="10515600" cy="594360"/>
          </a:xfrm>
          <a:prstGeom prst="roundRect">
            <a:avLst>
              <a:gd name="adj" fmla="val 18462"/>
            </a:avLst>
          </a:prstGeom>
          <a:solidFill>
            <a:srgbClr val="0B1E33"/>
          </a:solidFill>
          <a:ln w="12700">
            <a:solidFill>
              <a:srgbClr val="333333">
                <a:alpha val="0"/>
              </a:srgbClr>
            </a:solidFill>
            <a:prstDash val="solid"/>
          </a:ln>
        </p:spPr>
      </p:sp>
      <p:sp>
        <p:nvSpPr>
          <p:cNvPr id="28" name="Text 26"/>
          <p:cNvSpPr/>
          <p:nvPr/>
        </p:nvSpPr>
        <p:spPr>
          <a:xfrm>
            <a:off x="1024128" y="5797296"/>
            <a:ext cx="9966960" cy="164592"/>
          </a:xfrm>
          <a:prstGeom prst="rect">
            <a:avLst/>
          </a:prstGeom>
          <a:noFill/>
          <a:ln/>
        </p:spPr>
        <p:txBody>
          <a:bodyPr wrap="square" lIns="508" tIns="508" rIns="508" bIns="508" rtlCol="0" anchor="t">
            <a:normAutofit/>
          </a:bodyPr>
          <a:lstStyle/>
          <a:p>
            <a:pPr algn="ctr" indent="0" marL="0">
              <a:buNone/>
            </a:pPr>
            <a:r>
              <a:rPr lang="en-US" sz="1450" b="1" dirty="0">
                <a:solidFill>
                  <a:srgbClr val="FFFFFF"/>
                </a:solidFill>
                <a:latin typeface="Aptos" pitchFamily="34" charset="0"/>
                <a:ea typeface="Aptos" pitchFamily="34" charset="-122"/>
                <a:cs typeface="Aptos" pitchFamily="34" charset="-120"/>
              </a:rPr>
              <a:t>Expected demo: sensor reads turbidity → ESP32 classifies water clarity → display shows if fish imaging is recommended.</a:t>
            </a:r>
            <a:endParaRPr lang="en-US" sz="1450" dirty="0"/>
          </a:p>
        </p:txBody>
      </p:sp>
      <p:sp>
        <p:nvSpPr>
          <p:cNvPr id="29" name="Text 27"/>
          <p:cNvSpPr/>
          <p:nvPr/>
        </p:nvSpPr>
        <p:spPr>
          <a:xfrm>
            <a:off x="11109960" y="6446520"/>
            <a:ext cx="502920" cy="164592"/>
          </a:xfrm>
          <a:prstGeom prst="rect">
            <a:avLst/>
          </a:prstGeom>
          <a:noFill/>
          <a:ln/>
        </p:spPr>
        <p:txBody>
          <a:bodyPr wrap="square" lIns="0" tIns="0" rIns="0" bIns="0" rtlCol="0" anchor="ctr"/>
          <a:lstStyle/>
          <a:p>
            <a:pPr algn="r" indent="0" marL="0">
              <a:buNone/>
            </a:pPr>
            <a:r>
              <a:rPr lang="en-US" sz="900" b="1" dirty="0">
                <a:solidFill>
                  <a:srgbClr val="6E8391"/>
                </a:solidFill>
              </a:rPr>
              <a:t>5/5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Vietnamese-German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Turbidity Detection - Hardware Progress Update</dc:title>
  <dc:subject>Weekly progress update for water turbidity detection project</dc:subject>
  <dc:creator>OpenAI</dc:creator>
  <cp:lastModifiedBy>OpenAI</cp:lastModifiedBy>
  <cp:revision>1</cp:revision>
  <dcterms:created xsi:type="dcterms:W3CDTF">2026-06-08T06:53:56Z</dcterms:created>
  <dcterms:modified xsi:type="dcterms:W3CDTF">2026-06-08T06:53:56Z</dcterms:modified>
</cp:coreProperties>
</file>